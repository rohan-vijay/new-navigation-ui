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every retailer has the data. What they don't have is the connection between demand, supply and media. This deck sets up the concept, goes deep on one question, then we switch to the live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use case they named: World Cup jersey sales diverging between metros. Point: the answer exists in their systems — it’s just not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new platform — a graph layered over their existing stack. Walk the three layers: objects, relationships, and the ten systems feeding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graph vs dashboard: dashboards answer known questions; the graph answers the next question. Emphasize multi-modal — Cypher first, then SQL and semantic where they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agent’s chain of thought, live in the prototype: Cypher first on the graph, then SQL on Snowflake for hard numbers, then semantic search over knowledge for the driver. Each step shows its query and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decomposed and cited. 60/40 split between media skew and stockout; search-index proof that NY intent is intact. Every number resolves to a graph record — that’s the difference from a BI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live prototype here. Demo order: graph canvas → a source pipeline (Jira-style mapping) → records → the agent chat with the Seattle question. Close on: this is their business,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41F"/>
        </a:solidFill>
      </p:bgPr>
    </p:bg>
    <p:spTree>
      <p:nvGrpSpPr>
        <p:cNvPr id="1" name=""/>
        <p:cNvGrpSpPr/>
        <p:nvPr/>
      </p:nvGrpSpPr>
      <p:grpSpPr>
        <a:xfrm>
          <a:off x="0" y="0"/>
          <a:ext cx="0" cy="0"/>
          <a:chOff x="0" y="0"/>
          <a:chExt cx="0" cy="0"/>
        </a:xfrm>
      </p:grpSpPr>
      <p:sp>
        <p:nvSpPr>
          <p:cNvPr id="2" name="Shape 0"/>
          <p:cNvSpPr/>
          <p:nvPr/>
        </p:nvSpPr>
        <p:spPr>
          <a:xfrm>
            <a:off x="9326880" y="1371600"/>
            <a:ext cx="1280160" cy="640080"/>
          </a:xfrm>
          <a:prstGeom prst="line">
            <a:avLst/>
          </a:prstGeom>
          <a:noFill/>
          <a:ln w="9525">
            <a:solidFill>
              <a:srgbClr val="2A4A34"/>
            </a:solidFill>
            <a:prstDash val="solid"/>
          </a:ln>
        </p:spPr>
      </p:sp>
      <p:sp>
        <p:nvSpPr>
          <p:cNvPr id="3" name="Shape 1"/>
          <p:cNvSpPr/>
          <p:nvPr/>
        </p:nvSpPr>
        <p:spPr>
          <a:xfrm flipV="1">
            <a:off x="10607040" y="1005840"/>
            <a:ext cx="731520" cy="1005840"/>
          </a:xfrm>
          <a:prstGeom prst="line">
            <a:avLst/>
          </a:prstGeom>
          <a:noFill/>
          <a:ln w="9525">
            <a:solidFill>
              <a:srgbClr val="2A4A34"/>
            </a:solidFill>
            <a:prstDash val="solid"/>
          </a:ln>
        </p:spPr>
      </p:sp>
      <p:sp>
        <p:nvSpPr>
          <p:cNvPr id="4" name="Shape 2"/>
          <p:cNvSpPr/>
          <p:nvPr/>
        </p:nvSpPr>
        <p:spPr>
          <a:xfrm flipV="1">
            <a:off x="9966960" y="2011680"/>
            <a:ext cx="640080" cy="1005840"/>
          </a:xfrm>
          <a:prstGeom prst="line">
            <a:avLst/>
          </a:prstGeom>
          <a:noFill/>
          <a:ln w="9525">
            <a:solidFill>
              <a:srgbClr val="2A4A34"/>
            </a:solidFill>
            <a:prstDash val="solid"/>
          </a:ln>
        </p:spPr>
      </p:sp>
      <p:sp>
        <p:nvSpPr>
          <p:cNvPr id="5" name="Shape 3"/>
          <p:cNvSpPr/>
          <p:nvPr/>
        </p:nvSpPr>
        <p:spPr>
          <a:xfrm>
            <a:off x="9966960" y="3017520"/>
            <a:ext cx="1188720" cy="548640"/>
          </a:xfrm>
          <a:prstGeom prst="line">
            <a:avLst/>
          </a:prstGeom>
          <a:noFill/>
          <a:ln w="9525">
            <a:solidFill>
              <a:srgbClr val="2A4A34"/>
            </a:solidFill>
            <a:prstDash val="solid"/>
          </a:ln>
        </p:spPr>
      </p:sp>
      <p:sp>
        <p:nvSpPr>
          <p:cNvPr id="6" name="Shape 4"/>
          <p:cNvSpPr/>
          <p:nvPr/>
        </p:nvSpPr>
        <p:spPr>
          <a:xfrm flipV="1">
            <a:off x="10424160" y="3566160"/>
            <a:ext cx="731520" cy="1097280"/>
          </a:xfrm>
          <a:prstGeom prst="line">
            <a:avLst/>
          </a:prstGeom>
          <a:noFill/>
          <a:ln w="9525">
            <a:solidFill>
              <a:srgbClr val="2A4A34"/>
            </a:solidFill>
            <a:prstDash val="solid"/>
          </a:ln>
        </p:spPr>
      </p:sp>
      <p:sp>
        <p:nvSpPr>
          <p:cNvPr id="7" name="Shape 5"/>
          <p:cNvSpPr/>
          <p:nvPr/>
        </p:nvSpPr>
        <p:spPr>
          <a:xfrm>
            <a:off x="11155680" y="3566160"/>
            <a:ext cx="457200" cy="1828800"/>
          </a:xfrm>
          <a:prstGeom prst="line">
            <a:avLst/>
          </a:prstGeom>
          <a:noFill/>
          <a:ln w="9525">
            <a:solidFill>
              <a:srgbClr val="2A4A34"/>
            </a:solidFill>
            <a:prstDash val="solid"/>
          </a:ln>
        </p:spPr>
      </p:sp>
      <p:sp>
        <p:nvSpPr>
          <p:cNvPr id="8" name="Shape 6"/>
          <p:cNvSpPr/>
          <p:nvPr/>
        </p:nvSpPr>
        <p:spPr>
          <a:xfrm flipV="1">
            <a:off x="9418320" y="4663440"/>
            <a:ext cx="1005840" cy="914400"/>
          </a:xfrm>
          <a:prstGeom prst="line">
            <a:avLst/>
          </a:prstGeom>
          <a:noFill/>
          <a:ln w="9525">
            <a:solidFill>
              <a:srgbClr val="2A4A34"/>
            </a:solidFill>
            <a:prstDash val="solid"/>
          </a:ln>
        </p:spPr>
      </p:sp>
      <p:sp>
        <p:nvSpPr>
          <p:cNvPr id="9" name="Shape 7"/>
          <p:cNvSpPr/>
          <p:nvPr/>
        </p:nvSpPr>
        <p:spPr>
          <a:xfrm>
            <a:off x="9235440" y="1280160"/>
            <a:ext cx="182880" cy="182880"/>
          </a:xfrm>
          <a:prstGeom prst="ellipse">
            <a:avLst/>
          </a:prstGeom>
          <a:solidFill>
            <a:srgbClr val="2E5238"/>
          </a:solidFill>
          <a:ln w="9525">
            <a:solidFill>
              <a:srgbClr val="55805F"/>
            </a:solidFill>
            <a:prstDash val="solid"/>
          </a:ln>
        </p:spPr>
      </p:sp>
      <p:sp>
        <p:nvSpPr>
          <p:cNvPr id="10" name="Shape 8"/>
          <p:cNvSpPr/>
          <p:nvPr/>
        </p:nvSpPr>
        <p:spPr>
          <a:xfrm>
            <a:off x="10479024" y="1883664"/>
            <a:ext cx="256032" cy="256032"/>
          </a:xfrm>
          <a:prstGeom prst="ellipse">
            <a:avLst/>
          </a:prstGeom>
          <a:solidFill>
            <a:srgbClr val="3E6A4C"/>
          </a:solidFill>
          <a:ln w="9525">
            <a:solidFill>
              <a:srgbClr val="55805F"/>
            </a:solidFill>
            <a:prstDash val="solid"/>
          </a:ln>
        </p:spPr>
      </p:sp>
      <p:sp>
        <p:nvSpPr>
          <p:cNvPr id="11" name="Shape 9"/>
          <p:cNvSpPr/>
          <p:nvPr/>
        </p:nvSpPr>
        <p:spPr>
          <a:xfrm>
            <a:off x="11265408" y="932688"/>
            <a:ext cx="146304" cy="146304"/>
          </a:xfrm>
          <a:prstGeom prst="ellipse">
            <a:avLst/>
          </a:prstGeom>
          <a:solidFill>
            <a:srgbClr val="2E5238"/>
          </a:solidFill>
          <a:ln w="9525">
            <a:solidFill>
              <a:srgbClr val="55805F"/>
            </a:solidFill>
            <a:prstDash val="solid"/>
          </a:ln>
        </p:spPr>
      </p:sp>
      <p:sp>
        <p:nvSpPr>
          <p:cNvPr id="12" name="Shape 10"/>
          <p:cNvSpPr/>
          <p:nvPr/>
        </p:nvSpPr>
        <p:spPr>
          <a:xfrm>
            <a:off x="9884664" y="2935224"/>
            <a:ext cx="164592" cy="164592"/>
          </a:xfrm>
          <a:prstGeom prst="ellipse">
            <a:avLst/>
          </a:prstGeom>
          <a:solidFill>
            <a:srgbClr val="2E5238"/>
          </a:solidFill>
          <a:ln w="9525">
            <a:solidFill>
              <a:srgbClr val="55805F"/>
            </a:solidFill>
            <a:prstDash val="solid"/>
          </a:ln>
        </p:spPr>
      </p:sp>
      <p:sp>
        <p:nvSpPr>
          <p:cNvPr id="13" name="Shape 11"/>
          <p:cNvSpPr/>
          <p:nvPr/>
        </p:nvSpPr>
        <p:spPr>
          <a:xfrm>
            <a:off x="11045952" y="3456432"/>
            <a:ext cx="219456" cy="219456"/>
          </a:xfrm>
          <a:prstGeom prst="ellipse">
            <a:avLst/>
          </a:prstGeom>
          <a:solidFill>
            <a:srgbClr val="3E6A4C"/>
          </a:solidFill>
          <a:ln w="9525">
            <a:solidFill>
              <a:srgbClr val="55805F"/>
            </a:solidFill>
            <a:prstDash val="solid"/>
          </a:ln>
        </p:spPr>
      </p:sp>
      <p:sp>
        <p:nvSpPr>
          <p:cNvPr id="14" name="Shape 12"/>
          <p:cNvSpPr/>
          <p:nvPr/>
        </p:nvSpPr>
        <p:spPr>
          <a:xfrm>
            <a:off x="10351008" y="4590288"/>
            <a:ext cx="146304" cy="146304"/>
          </a:xfrm>
          <a:prstGeom prst="ellipse">
            <a:avLst/>
          </a:prstGeom>
          <a:solidFill>
            <a:srgbClr val="2E5238"/>
          </a:solidFill>
          <a:ln w="9525">
            <a:solidFill>
              <a:srgbClr val="55805F"/>
            </a:solidFill>
            <a:prstDash val="solid"/>
          </a:ln>
        </p:spPr>
      </p:sp>
      <p:sp>
        <p:nvSpPr>
          <p:cNvPr id="15" name="Shape 13"/>
          <p:cNvSpPr/>
          <p:nvPr/>
        </p:nvSpPr>
        <p:spPr>
          <a:xfrm>
            <a:off x="11521440" y="5303520"/>
            <a:ext cx="182880" cy="182880"/>
          </a:xfrm>
          <a:prstGeom prst="ellipse">
            <a:avLst/>
          </a:prstGeom>
          <a:solidFill>
            <a:srgbClr val="2E5238"/>
          </a:solidFill>
          <a:ln w="9525">
            <a:solidFill>
              <a:srgbClr val="55805F"/>
            </a:solidFill>
            <a:prstDash val="solid"/>
          </a:ln>
        </p:spPr>
      </p:sp>
      <p:sp>
        <p:nvSpPr>
          <p:cNvPr id="16" name="Shape 14"/>
          <p:cNvSpPr/>
          <p:nvPr/>
        </p:nvSpPr>
        <p:spPr>
          <a:xfrm>
            <a:off x="9354312" y="5513832"/>
            <a:ext cx="128016" cy="128016"/>
          </a:xfrm>
          <a:prstGeom prst="ellipse">
            <a:avLst/>
          </a:prstGeom>
          <a:solidFill>
            <a:srgbClr val="2E5238"/>
          </a:solidFill>
          <a:ln w="9525">
            <a:solidFill>
              <a:srgbClr val="55805F"/>
            </a:solidFill>
            <a:prstDash val="solid"/>
          </a:ln>
        </p:spPr>
      </p:sp>
      <p:pic>
        <p:nvPicPr>
          <p:cNvPr id="17" name="Image 0" descr="/Users/rohanvijay/New Navigation/public/unify-logo-sand.png">    </p:cNvPr>
          <p:cNvPicPr>
            <a:picLocks noChangeAspect="1"/>
          </p:cNvPicPr>
          <p:nvPr/>
        </p:nvPicPr>
        <p:blipFill>
          <a:blip r:embed="rId1"/>
          <a:stretch>
            <a:fillRect/>
          </a:stretch>
        </p:blipFill>
        <p:spPr>
          <a:xfrm>
            <a:off x="640080" y="502920"/>
            <a:ext cx="1572768" cy="475488"/>
          </a:xfrm>
          <a:prstGeom prst="rect">
            <a:avLst/>
          </a:prstGeom>
        </p:spPr>
      </p:pic>
      <p:sp>
        <p:nvSpPr>
          <p:cNvPr id="18" name="Text 15"/>
          <p:cNvSpPr/>
          <p:nvPr/>
        </p:nvSpPr>
        <p:spPr>
          <a:xfrm>
            <a:off x="658368" y="2487168"/>
            <a:ext cx="7315200" cy="274320"/>
          </a:xfrm>
          <a:prstGeom prst="rect">
            <a:avLst/>
          </a:prstGeom>
          <a:noFill/>
          <a:ln/>
        </p:spPr>
        <p:txBody>
          <a:bodyPr wrap="square" lIns="0" tIns="0" rIns="0" bIns="0" rtlCol="0" anchor="ctr"/>
          <a:lstStyle/>
          <a:p>
            <a:pPr indent="0" marL="0">
              <a:buNone/>
            </a:pPr>
            <a:r>
              <a:rPr lang="en-US" sz="1100" b="1" spc="200" kern="0" dirty="0">
                <a:solidFill>
                  <a:srgbClr val="B8923A"/>
                </a:solidFill>
                <a:latin typeface="Courier New" pitchFamily="34" charset="0"/>
                <a:ea typeface="Courier New" pitchFamily="34" charset="-122"/>
                <a:cs typeface="Courier New" pitchFamily="34" charset="-120"/>
              </a:rPr>
              <a:t>ENTERPRISE CONTEXT GRAPH · RETAIL</a:t>
            </a:r>
            <a:endParaRPr lang="en-US" sz="1100" dirty="0"/>
          </a:p>
        </p:txBody>
      </p:sp>
      <p:sp>
        <p:nvSpPr>
          <p:cNvPr id="19" name="Text 16"/>
          <p:cNvSpPr/>
          <p:nvPr/>
        </p:nvSpPr>
        <p:spPr>
          <a:xfrm>
            <a:off x="640080" y="2743200"/>
            <a:ext cx="8778240" cy="1737360"/>
          </a:xfrm>
          <a:prstGeom prst="rect">
            <a:avLst/>
          </a:prstGeom>
          <a:noFill/>
          <a:ln/>
        </p:spPr>
        <p:txBody>
          <a:bodyPr wrap="square" lIns="0" tIns="0" rIns="0" bIns="0" rtlCol="0" anchor="ctr"/>
          <a:lstStyle/>
          <a:p>
            <a:pPr indent="0" marL="0">
              <a:lnSpc>
                <a:spcPts val="5400"/>
              </a:lnSpc>
              <a:buNone/>
            </a:pPr>
            <a:r>
              <a:rPr lang="en-US" sz="4700" dirty="0">
                <a:solidFill>
                  <a:srgbClr val="FEFDFB"/>
                </a:solidFill>
                <a:latin typeface="Spectral" pitchFamily="34" charset="0"/>
                <a:ea typeface="Spectral" pitchFamily="34" charset="-122"/>
                <a:cs typeface="Spectral" pitchFamily="34" charset="-120"/>
              </a:rPr>
              <a:t>The Nike Retail</a:t>
            </a:r>
            <a:endParaRPr lang="en-US" sz="4700" dirty="0"/>
          </a:p>
          <a:p>
            <a:pPr indent="0" marL="0">
              <a:lnSpc>
                <a:spcPts val="5400"/>
              </a:lnSpc>
              <a:buNone/>
            </a:pPr>
            <a:r>
              <a:rPr lang="en-US" sz="4700" dirty="0">
                <a:solidFill>
                  <a:srgbClr val="FEFDFB"/>
                </a:solidFill>
                <a:latin typeface="Spectral" pitchFamily="34" charset="0"/>
                <a:ea typeface="Spectral" pitchFamily="34" charset="-122"/>
                <a:cs typeface="Spectral" pitchFamily="34" charset="-120"/>
              </a:rPr>
              <a:t>Context Graph</a:t>
            </a:r>
            <a:endParaRPr lang="en-US" sz="4700" dirty="0"/>
          </a:p>
        </p:txBody>
      </p:sp>
      <p:sp>
        <p:nvSpPr>
          <p:cNvPr id="20" name="Text 17"/>
          <p:cNvSpPr/>
          <p:nvPr/>
        </p:nvSpPr>
        <p:spPr>
          <a:xfrm>
            <a:off x="658368" y="4617720"/>
            <a:ext cx="6949440" cy="822960"/>
          </a:xfrm>
          <a:prstGeom prst="rect">
            <a:avLst/>
          </a:prstGeom>
          <a:noFill/>
          <a:ln/>
        </p:spPr>
        <p:txBody>
          <a:bodyPr wrap="square" lIns="0" tIns="0" rIns="0" bIns="0" rtlCol="0" anchor="ctr"/>
          <a:lstStyle/>
          <a:p>
            <a:pPr indent="0" marL="0">
              <a:lnSpc>
                <a:spcPts val="2200"/>
              </a:lnSpc>
              <a:buNone/>
            </a:pPr>
            <a:r>
              <a:rPr lang="en-US" sz="1500" dirty="0">
                <a:solidFill>
                  <a:srgbClr val="D8D2C4"/>
                </a:solidFill>
                <a:latin typeface="Arial" pitchFamily="34" charset="0"/>
                <a:ea typeface="Arial" pitchFamily="34" charset="-122"/>
                <a:cs typeface="Arial" pitchFamily="34" charset="-120"/>
              </a:rPr>
              <a:t>Demand, supply, media and events — connected into one graph that explains why retail happens, not just what happened.</a:t>
            </a:r>
            <a:endParaRPr lang="en-US" sz="1500" dirty="0"/>
          </a:p>
        </p:txBody>
      </p:sp>
      <p:sp>
        <p:nvSpPr>
          <p:cNvPr id="21" name="Text 18"/>
          <p:cNvSpPr/>
          <p:nvPr/>
        </p:nvSpPr>
        <p:spPr>
          <a:xfrm>
            <a:off x="658368" y="6263640"/>
            <a:ext cx="6400800" cy="274320"/>
          </a:xfrm>
          <a:prstGeom prst="rect">
            <a:avLst/>
          </a:prstGeom>
          <a:noFill/>
          <a:ln/>
        </p:spPr>
        <p:txBody>
          <a:bodyPr wrap="square" lIns="0" tIns="0" rIns="0" bIns="0" rtlCol="0" anchor="ctr"/>
          <a:lstStyle/>
          <a:p>
            <a:pPr indent="0" marL="0">
              <a:buNone/>
            </a:pPr>
            <a:r>
              <a:rPr lang="en-US" sz="1000" spc="200" kern="0" dirty="0">
                <a:solidFill>
                  <a:srgbClr val="7C9683"/>
                </a:solidFill>
                <a:latin typeface="Courier New" pitchFamily="34" charset="0"/>
                <a:ea typeface="Courier New" pitchFamily="34" charset="-122"/>
                <a:cs typeface="Courier New" pitchFamily="34" charset="-120"/>
              </a:rPr>
              <a:t>UNIFYAPPS  ·  PROTOTYPE WALKTHROUGH  ·  JULY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B8923A"/>
                </a:solidFill>
                <a:latin typeface="Courier New" pitchFamily="34" charset="0"/>
                <a:ea typeface="Courier New" pitchFamily="34" charset="-122"/>
                <a:cs typeface="Courier New" pitchFamily="34" charset="-120"/>
              </a:rPr>
              <a:t>01 · THE PROBLEM</a:t>
            </a:r>
            <a:endParaRPr lang="en-US" sz="1100" dirty="0"/>
          </a:p>
        </p:txBody>
      </p:sp>
      <p:sp>
        <p:nvSpPr>
          <p:cNvPr id="3" name="Text 1"/>
          <p:cNvSpPr/>
          <p:nvPr/>
        </p:nvSpPr>
        <p:spPr>
          <a:xfrm>
            <a:off x="640080" y="786384"/>
            <a:ext cx="10972800" cy="1005840"/>
          </a:xfrm>
          <a:prstGeom prst="rect">
            <a:avLst/>
          </a:prstGeom>
          <a:noFill/>
          <a:ln/>
        </p:spPr>
        <p:txBody>
          <a:bodyPr wrap="square" lIns="0" tIns="0" rIns="0" bIns="0" rtlCol="0" anchor="ctr"/>
          <a:lstStyle/>
          <a:p>
            <a:pPr indent="0" marL="0">
              <a:lnSpc>
                <a:spcPts val="3600"/>
              </a:lnSpc>
              <a:buNone/>
            </a:pPr>
            <a:r>
              <a:rPr lang="en-US" sz="2900" dirty="0">
                <a:solidFill>
                  <a:srgbClr val="1A1A1A"/>
                </a:solidFill>
                <a:latin typeface="Spectral" pitchFamily="34" charset="0"/>
                <a:ea typeface="Spectral" pitchFamily="34" charset="-122"/>
                <a:cs typeface="Spectral" pitchFamily="34" charset="-120"/>
              </a:rPr>
              <a:t>It’s World Cup week. Seattle is selling </a:t>
            </a:r>
            <a:pPr indent="0" marL="0">
              <a:lnSpc>
                <a:spcPts val="3600"/>
              </a:lnSpc>
              <a:buNone/>
            </a:pPr>
            <a:r>
              <a:rPr lang="en-US" sz="2900" dirty="0">
                <a:solidFill>
                  <a:srgbClr val="2F6F43"/>
                </a:solidFill>
                <a:latin typeface="Spectral" pitchFamily="34" charset="0"/>
                <a:ea typeface="Spectral" pitchFamily="34" charset="-122"/>
                <a:cs typeface="Spectral" pitchFamily="34" charset="-120"/>
              </a:rPr>
              <a:t>2×</a:t>
            </a:r>
            <a:pPr indent="0" marL="0">
              <a:lnSpc>
                <a:spcPts val="3600"/>
              </a:lnSpc>
              <a:buNone/>
            </a:pPr>
            <a:r>
              <a:rPr lang="en-US" sz="2900" dirty="0">
                <a:solidFill>
                  <a:srgbClr val="1A1A1A"/>
                </a:solidFill>
                <a:latin typeface="Spectral" pitchFamily="34" charset="0"/>
                <a:ea typeface="Spectral" pitchFamily="34" charset="-122"/>
                <a:cs typeface="Spectral" pitchFamily="34" charset="-120"/>
              </a:rPr>
              <a:t> the USMNT jerseys New York is.</a:t>
            </a:r>
            <a:endParaRPr lang="en-US" sz="2900" dirty="0"/>
          </a:p>
        </p:txBody>
      </p:sp>
      <p:sp>
        <p:nvSpPr>
          <p:cNvPr id="4" name="Text 2"/>
          <p:cNvSpPr/>
          <p:nvPr/>
        </p:nvSpPr>
        <p:spPr>
          <a:xfrm>
            <a:off x="640080" y="1828800"/>
            <a:ext cx="9875520" cy="566928"/>
          </a:xfrm>
          <a:prstGeom prst="rect">
            <a:avLst/>
          </a:prstGeom>
          <a:noFill/>
          <a:ln/>
        </p:spPr>
        <p:txBody>
          <a:bodyPr wrap="square" lIns="0" tIns="0" rIns="0" bIns="0" rtlCol="0" anchor="ctr"/>
          <a:lstStyle/>
          <a:p>
            <a:pPr indent="0" marL="0">
              <a:lnSpc>
                <a:spcPts val="2000"/>
              </a:lnSpc>
              <a:buNone/>
            </a:pPr>
            <a:r>
              <a:rPr lang="en-US" sz="1400" dirty="0">
                <a:solidFill>
                  <a:srgbClr val="5B5547"/>
                </a:solidFill>
                <a:latin typeface="Arial" pitchFamily="34" charset="0"/>
                <a:ea typeface="Arial" pitchFamily="34" charset="-122"/>
                <a:cs typeface="Arial" pitchFamily="34" charset="-120"/>
              </a:rPr>
              <a:t>Every dashboard shows the gap. None can explain it — the context lives in five disconnected systems, so the "why" becomes a guessing game.</a:t>
            </a:r>
            <a:endParaRPr lang="en-US" sz="1400" dirty="0"/>
          </a:p>
        </p:txBody>
      </p:sp>
      <p:sp>
        <p:nvSpPr>
          <p:cNvPr id="5" name="Shape 3"/>
          <p:cNvSpPr/>
          <p:nvPr/>
        </p:nvSpPr>
        <p:spPr>
          <a:xfrm>
            <a:off x="640080" y="2606040"/>
            <a:ext cx="3547872" cy="2084832"/>
          </a:xfrm>
          <a:prstGeom prst="roundRect">
            <a:avLst>
              <a:gd name="adj" fmla="val 3947"/>
            </a:avLst>
          </a:prstGeom>
          <a:solidFill>
            <a:srgbClr val="F7F5F0"/>
          </a:solidFill>
          <a:ln w="9525">
            <a:solidFill>
              <a:srgbClr val="E7E3DA"/>
            </a:solidFill>
            <a:prstDash val="solid"/>
          </a:ln>
        </p:spPr>
      </p:sp>
      <p:sp>
        <p:nvSpPr>
          <p:cNvPr id="6" name="Shape 4"/>
          <p:cNvSpPr/>
          <p:nvPr/>
        </p:nvSpPr>
        <p:spPr>
          <a:xfrm>
            <a:off x="914400" y="2871216"/>
            <a:ext cx="457200" cy="457200"/>
          </a:xfrm>
          <a:prstGeom prst="ellipse">
            <a:avLst/>
          </a:prstGeom>
          <a:solidFill>
            <a:srgbClr val="16341F"/>
          </a:solidFill>
          <a:ln/>
        </p:spPr>
      </p:sp>
      <p:pic>
        <p:nvPicPr>
          <p:cNvPr id="7" name="Image 0" descr="preencoded.png">    </p:cNvPr>
          <p:cNvPicPr>
            <a:picLocks noChangeAspect="1"/>
          </p:cNvPicPr>
          <p:nvPr/>
        </p:nvPicPr>
        <p:blipFill>
          <a:blip r:embed="rId1"/>
          <a:stretch>
            <a:fillRect/>
          </a:stretch>
        </p:blipFill>
        <p:spPr>
          <a:xfrm>
            <a:off x="1019556" y="2976372"/>
            <a:ext cx="246888" cy="246888"/>
          </a:xfrm>
          <a:prstGeom prst="rect">
            <a:avLst/>
          </a:prstGeom>
        </p:spPr>
      </p:pic>
      <p:sp>
        <p:nvSpPr>
          <p:cNvPr id="8" name="Text 5"/>
          <p:cNvSpPr/>
          <p:nvPr/>
        </p:nvSpPr>
        <p:spPr>
          <a:xfrm>
            <a:off x="914400" y="3474720"/>
            <a:ext cx="3017520" cy="365760"/>
          </a:xfrm>
          <a:prstGeom prst="rect">
            <a:avLst/>
          </a:prstGeom>
          <a:noFill/>
          <a:ln/>
        </p:spPr>
        <p:txBody>
          <a:bodyPr wrap="square" lIns="0" tIns="0" rIns="0" bIns="0" rtlCol="0" anchor="ctr"/>
          <a:lstStyle/>
          <a:p>
            <a:pPr indent="0" marL="0">
              <a:buNone/>
            </a:pPr>
            <a:r>
              <a:rPr lang="en-US" sz="1700" dirty="0">
                <a:solidFill>
                  <a:srgbClr val="1A1A1A"/>
                </a:solidFill>
                <a:latin typeface="Spectral" pitchFamily="34" charset="0"/>
                <a:ea typeface="Spectral" pitchFamily="34" charset="-122"/>
                <a:cs typeface="Spectral" pitchFamily="34" charset="-120"/>
              </a:rPr>
              <a:t>Is it demand?</a:t>
            </a:r>
            <a:endParaRPr lang="en-US" sz="1700" dirty="0"/>
          </a:p>
        </p:txBody>
      </p:sp>
      <p:sp>
        <p:nvSpPr>
          <p:cNvPr id="9" name="Text 6"/>
          <p:cNvSpPr/>
          <p:nvPr/>
        </p:nvSpPr>
        <p:spPr>
          <a:xfrm>
            <a:off x="914400" y="3877056"/>
            <a:ext cx="3035808" cy="731520"/>
          </a:xfrm>
          <a:prstGeom prst="rect">
            <a:avLst/>
          </a:prstGeom>
          <a:noFill/>
          <a:ln/>
        </p:spPr>
        <p:txBody>
          <a:bodyPr wrap="square" lIns="0" tIns="0" rIns="0" bIns="0" rtlCol="0" anchor="ctr"/>
          <a:lstStyle/>
          <a:p>
            <a:pPr indent="0" marL="0">
              <a:lnSpc>
                <a:spcPts val="1650"/>
              </a:lnSpc>
              <a:buNone/>
            </a:pPr>
            <a:r>
              <a:rPr lang="en-US" sz="1200" dirty="0">
                <a:solidFill>
                  <a:srgbClr val="5B5547"/>
                </a:solidFill>
                <a:latin typeface="Arial" pitchFamily="34" charset="0"/>
                <a:ea typeface="Arial" pitchFamily="34" charset="-122"/>
                <a:cs typeface="Arial" pitchFamily="34" charset="-120"/>
              </a:rPr>
              <a:t>A real local surge — the event, the team, a fanbase pulling harder in one metro than another.</a:t>
            </a:r>
            <a:endParaRPr lang="en-US" sz="1200" dirty="0"/>
          </a:p>
        </p:txBody>
      </p:sp>
      <p:sp>
        <p:nvSpPr>
          <p:cNvPr id="10" name="Shape 7"/>
          <p:cNvSpPr/>
          <p:nvPr/>
        </p:nvSpPr>
        <p:spPr>
          <a:xfrm>
            <a:off x="4462272" y="2606040"/>
            <a:ext cx="3547872" cy="2084832"/>
          </a:xfrm>
          <a:prstGeom prst="roundRect">
            <a:avLst>
              <a:gd name="adj" fmla="val 3947"/>
            </a:avLst>
          </a:prstGeom>
          <a:solidFill>
            <a:srgbClr val="F7F5F0"/>
          </a:solidFill>
          <a:ln w="9525">
            <a:solidFill>
              <a:srgbClr val="E7E3DA"/>
            </a:solidFill>
            <a:prstDash val="solid"/>
          </a:ln>
        </p:spPr>
      </p:sp>
      <p:sp>
        <p:nvSpPr>
          <p:cNvPr id="11" name="Shape 8"/>
          <p:cNvSpPr/>
          <p:nvPr/>
        </p:nvSpPr>
        <p:spPr>
          <a:xfrm>
            <a:off x="4736592" y="2871216"/>
            <a:ext cx="457200" cy="457200"/>
          </a:xfrm>
          <a:prstGeom prst="ellipse">
            <a:avLst/>
          </a:prstGeom>
          <a:solidFill>
            <a:srgbClr val="16341F"/>
          </a:solidFill>
          <a:ln/>
        </p:spPr>
      </p:sp>
      <p:pic>
        <p:nvPicPr>
          <p:cNvPr id="12" name="Image 1" descr="preencoded.png">    </p:cNvPr>
          <p:cNvPicPr>
            <a:picLocks noChangeAspect="1"/>
          </p:cNvPicPr>
          <p:nvPr/>
        </p:nvPicPr>
        <p:blipFill>
          <a:blip r:embed="rId2"/>
          <a:stretch>
            <a:fillRect/>
          </a:stretch>
        </p:blipFill>
        <p:spPr>
          <a:xfrm>
            <a:off x="4841748" y="2976372"/>
            <a:ext cx="246888" cy="246888"/>
          </a:xfrm>
          <a:prstGeom prst="rect">
            <a:avLst/>
          </a:prstGeom>
        </p:spPr>
      </p:pic>
      <p:sp>
        <p:nvSpPr>
          <p:cNvPr id="13" name="Text 9"/>
          <p:cNvSpPr/>
          <p:nvPr/>
        </p:nvSpPr>
        <p:spPr>
          <a:xfrm>
            <a:off x="4736592" y="3474720"/>
            <a:ext cx="3017520" cy="365760"/>
          </a:xfrm>
          <a:prstGeom prst="rect">
            <a:avLst/>
          </a:prstGeom>
          <a:noFill/>
          <a:ln/>
        </p:spPr>
        <p:txBody>
          <a:bodyPr wrap="square" lIns="0" tIns="0" rIns="0" bIns="0" rtlCol="0" anchor="ctr"/>
          <a:lstStyle/>
          <a:p>
            <a:pPr indent="0" marL="0">
              <a:buNone/>
            </a:pPr>
            <a:r>
              <a:rPr lang="en-US" sz="1700" dirty="0">
                <a:solidFill>
                  <a:srgbClr val="1A1A1A"/>
                </a:solidFill>
                <a:latin typeface="Spectral" pitchFamily="34" charset="0"/>
                <a:ea typeface="Spectral" pitchFamily="34" charset="-122"/>
                <a:cs typeface="Spectral" pitchFamily="34" charset="-120"/>
              </a:rPr>
              <a:t>Is it media?</a:t>
            </a:r>
            <a:endParaRPr lang="en-US" sz="1700" dirty="0"/>
          </a:p>
        </p:txBody>
      </p:sp>
      <p:sp>
        <p:nvSpPr>
          <p:cNvPr id="14" name="Text 10"/>
          <p:cNvSpPr/>
          <p:nvPr/>
        </p:nvSpPr>
        <p:spPr>
          <a:xfrm>
            <a:off x="4736592" y="3877056"/>
            <a:ext cx="3035808" cy="731520"/>
          </a:xfrm>
          <a:prstGeom prst="rect">
            <a:avLst/>
          </a:prstGeom>
          <a:noFill/>
          <a:ln/>
        </p:spPr>
        <p:txBody>
          <a:bodyPr wrap="square" lIns="0" tIns="0" rIns="0" bIns="0" rtlCol="0" anchor="ctr"/>
          <a:lstStyle/>
          <a:p>
            <a:pPr indent="0" marL="0">
              <a:lnSpc>
                <a:spcPts val="1650"/>
              </a:lnSpc>
              <a:buNone/>
            </a:pPr>
            <a:r>
              <a:rPr lang="en-US" sz="1200" dirty="0">
                <a:solidFill>
                  <a:srgbClr val="5B5547"/>
                </a:solidFill>
                <a:latin typeface="Arial" pitchFamily="34" charset="0"/>
                <a:ea typeface="Arial" pitchFamily="34" charset="-122"/>
                <a:cs typeface="Arial" pitchFamily="34" charset="-120"/>
              </a:rPr>
              <a:t>Paid amplification skewed to one market, manufacturing the gap the dashboards report.</a:t>
            </a:r>
            <a:endParaRPr lang="en-US" sz="1200" dirty="0"/>
          </a:p>
        </p:txBody>
      </p:sp>
      <p:sp>
        <p:nvSpPr>
          <p:cNvPr id="15" name="Shape 11"/>
          <p:cNvSpPr/>
          <p:nvPr/>
        </p:nvSpPr>
        <p:spPr>
          <a:xfrm>
            <a:off x="8284464" y="2606040"/>
            <a:ext cx="3547872" cy="2084832"/>
          </a:xfrm>
          <a:prstGeom prst="roundRect">
            <a:avLst>
              <a:gd name="adj" fmla="val 3947"/>
            </a:avLst>
          </a:prstGeom>
          <a:solidFill>
            <a:srgbClr val="F7F5F0"/>
          </a:solidFill>
          <a:ln w="9525">
            <a:solidFill>
              <a:srgbClr val="E7E3DA"/>
            </a:solidFill>
            <a:prstDash val="solid"/>
          </a:ln>
        </p:spPr>
      </p:sp>
      <p:sp>
        <p:nvSpPr>
          <p:cNvPr id="16" name="Shape 12"/>
          <p:cNvSpPr/>
          <p:nvPr/>
        </p:nvSpPr>
        <p:spPr>
          <a:xfrm>
            <a:off x="8558784" y="2871216"/>
            <a:ext cx="457200" cy="457200"/>
          </a:xfrm>
          <a:prstGeom prst="ellipse">
            <a:avLst/>
          </a:prstGeom>
          <a:solidFill>
            <a:srgbClr val="16341F"/>
          </a:solidFill>
          <a:ln/>
        </p:spPr>
      </p:sp>
      <p:pic>
        <p:nvPicPr>
          <p:cNvPr id="17" name="Image 2" descr="preencoded.png">    </p:cNvPr>
          <p:cNvPicPr>
            <a:picLocks noChangeAspect="1"/>
          </p:cNvPicPr>
          <p:nvPr/>
        </p:nvPicPr>
        <p:blipFill>
          <a:blip r:embed="rId3"/>
          <a:stretch>
            <a:fillRect/>
          </a:stretch>
        </p:blipFill>
        <p:spPr>
          <a:xfrm>
            <a:off x="8663940" y="2976372"/>
            <a:ext cx="246888" cy="246888"/>
          </a:xfrm>
          <a:prstGeom prst="rect">
            <a:avLst/>
          </a:prstGeom>
        </p:spPr>
      </p:pic>
      <p:sp>
        <p:nvSpPr>
          <p:cNvPr id="18" name="Text 13"/>
          <p:cNvSpPr/>
          <p:nvPr/>
        </p:nvSpPr>
        <p:spPr>
          <a:xfrm>
            <a:off x="8558784" y="3474720"/>
            <a:ext cx="3017520" cy="365760"/>
          </a:xfrm>
          <a:prstGeom prst="rect">
            <a:avLst/>
          </a:prstGeom>
          <a:noFill/>
          <a:ln/>
        </p:spPr>
        <p:txBody>
          <a:bodyPr wrap="square" lIns="0" tIns="0" rIns="0" bIns="0" rtlCol="0" anchor="ctr"/>
          <a:lstStyle/>
          <a:p>
            <a:pPr indent="0" marL="0">
              <a:buNone/>
            </a:pPr>
            <a:r>
              <a:rPr lang="en-US" sz="1700" dirty="0">
                <a:solidFill>
                  <a:srgbClr val="1A1A1A"/>
                </a:solidFill>
                <a:latin typeface="Spectral" pitchFamily="34" charset="0"/>
                <a:ea typeface="Spectral" pitchFamily="34" charset="-122"/>
                <a:cs typeface="Spectral" pitchFamily="34" charset="-120"/>
              </a:rPr>
              <a:t>Is it supply?</a:t>
            </a:r>
            <a:endParaRPr lang="en-US" sz="1700" dirty="0"/>
          </a:p>
        </p:txBody>
      </p:sp>
      <p:sp>
        <p:nvSpPr>
          <p:cNvPr id="19" name="Text 14"/>
          <p:cNvSpPr/>
          <p:nvPr/>
        </p:nvSpPr>
        <p:spPr>
          <a:xfrm>
            <a:off x="8558784" y="3877056"/>
            <a:ext cx="3035808" cy="731520"/>
          </a:xfrm>
          <a:prstGeom prst="rect">
            <a:avLst/>
          </a:prstGeom>
          <a:noFill/>
          <a:ln/>
        </p:spPr>
        <p:txBody>
          <a:bodyPr wrap="square" lIns="0" tIns="0" rIns="0" bIns="0" rtlCol="0" anchor="ctr"/>
          <a:lstStyle/>
          <a:p>
            <a:pPr indent="0" marL="0">
              <a:lnSpc>
                <a:spcPts val="1650"/>
              </a:lnSpc>
              <a:buNone/>
            </a:pPr>
            <a:r>
              <a:rPr lang="en-US" sz="1200" dirty="0">
                <a:solidFill>
                  <a:srgbClr val="5B5547"/>
                </a:solidFill>
                <a:latin typeface="Arial" pitchFamily="34" charset="0"/>
                <a:ea typeface="Arial" pitchFamily="34" charset="-122"/>
                <a:cs typeface="Arial" pitchFamily="34" charset="-120"/>
              </a:rPr>
              <a:t>A quiet stockout suppressing one store’s sales — weak numbers masquerading as weak demand.</a:t>
            </a:r>
            <a:endParaRPr lang="en-US" sz="1200" dirty="0"/>
          </a:p>
        </p:txBody>
      </p:sp>
      <p:sp>
        <p:nvSpPr>
          <p:cNvPr id="20" name="Shape 15"/>
          <p:cNvSpPr/>
          <p:nvPr/>
        </p:nvSpPr>
        <p:spPr>
          <a:xfrm>
            <a:off x="640080" y="5138928"/>
            <a:ext cx="10972800" cy="1115568"/>
          </a:xfrm>
          <a:prstGeom prst="roundRect">
            <a:avLst>
              <a:gd name="adj" fmla="val 7377"/>
            </a:avLst>
          </a:prstGeom>
          <a:solidFill>
            <a:srgbClr val="16341F"/>
          </a:solidFill>
          <a:ln/>
        </p:spPr>
      </p:sp>
      <p:sp>
        <p:nvSpPr>
          <p:cNvPr id="21" name="Text 16"/>
          <p:cNvSpPr/>
          <p:nvPr/>
        </p:nvSpPr>
        <p:spPr>
          <a:xfrm>
            <a:off x="1005840" y="5358384"/>
            <a:ext cx="2103120" cy="457200"/>
          </a:xfrm>
          <a:prstGeom prst="rect">
            <a:avLst/>
          </a:prstGeom>
          <a:noFill/>
          <a:ln/>
        </p:spPr>
        <p:txBody>
          <a:bodyPr wrap="square" lIns="0" tIns="0" rIns="0" bIns="0" rtlCol="0" anchor="ctr"/>
          <a:lstStyle/>
          <a:p>
            <a:pPr indent="0" marL="0">
              <a:buNone/>
            </a:pPr>
            <a:r>
              <a:rPr lang="en-US" sz="2600" dirty="0">
                <a:solidFill>
                  <a:srgbClr val="FEFDFB"/>
                </a:solidFill>
                <a:latin typeface="Spectral" pitchFamily="34" charset="0"/>
                <a:ea typeface="Spectral" pitchFamily="34" charset="-122"/>
                <a:cs typeface="Spectral" pitchFamily="34" charset="-120"/>
              </a:rPr>
              <a:t>~2 weeks</a:t>
            </a:r>
            <a:endParaRPr lang="en-US" sz="2600" dirty="0"/>
          </a:p>
        </p:txBody>
      </p:sp>
      <p:sp>
        <p:nvSpPr>
          <p:cNvPr id="22" name="Text 17"/>
          <p:cNvSpPr/>
          <p:nvPr/>
        </p:nvSpPr>
        <p:spPr>
          <a:xfrm>
            <a:off x="3200400" y="5358384"/>
            <a:ext cx="3566160" cy="713232"/>
          </a:xfrm>
          <a:prstGeom prst="rect">
            <a:avLst/>
          </a:prstGeom>
          <a:noFill/>
          <a:ln/>
        </p:spPr>
        <p:txBody>
          <a:bodyPr wrap="square" lIns="0" tIns="0" rIns="0" bIns="0" rtlCol="0" anchor="ctr"/>
          <a:lstStyle/>
          <a:p>
            <a:pPr indent="0" marL="0">
              <a:lnSpc>
                <a:spcPts val="1500"/>
              </a:lnSpc>
              <a:buNone/>
            </a:pPr>
            <a:r>
              <a:rPr lang="en-US" sz="1150" dirty="0">
                <a:solidFill>
                  <a:srgbClr val="D8D2C4"/>
                </a:solidFill>
                <a:latin typeface="Arial" pitchFamily="34" charset="0"/>
                <a:ea typeface="Arial" pitchFamily="34" charset="-122"/>
                <a:cs typeface="Arial" pitchFamily="34" charset="-120"/>
              </a:rPr>
              <a:t>to answer today — stitching POS, planning,</a:t>
            </a:r>
            <a:endParaRPr lang="en-US" sz="1150" dirty="0"/>
          </a:p>
          <a:p>
            <a:pPr indent="0" marL="0">
              <a:lnSpc>
                <a:spcPts val="1500"/>
              </a:lnSpc>
              <a:buNone/>
            </a:pPr>
            <a:r>
              <a:rPr lang="en-US" sz="1150" dirty="0">
                <a:solidFill>
                  <a:srgbClr val="D8D2C4"/>
                </a:solidFill>
                <a:latin typeface="Arial" pitchFamily="34" charset="0"/>
                <a:ea typeface="Arial" pitchFamily="34" charset="-122"/>
                <a:cs typeface="Arial" pitchFamily="34" charset="-120"/>
              </a:rPr>
              <a:t>media and supply teams together by hand</a:t>
            </a:r>
            <a:endParaRPr lang="en-US" sz="1150" dirty="0"/>
          </a:p>
        </p:txBody>
      </p:sp>
      <p:sp>
        <p:nvSpPr>
          <p:cNvPr id="23" name="Shape 18"/>
          <p:cNvSpPr/>
          <p:nvPr/>
        </p:nvSpPr>
        <p:spPr>
          <a:xfrm>
            <a:off x="7086600" y="5413248"/>
            <a:ext cx="0" cy="566928"/>
          </a:xfrm>
          <a:prstGeom prst="line">
            <a:avLst/>
          </a:prstGeom>
          <a:noFill/>
          <a:ln w="12700">
            <a:solidFill>
              <a:srgbClr val="3E6A4C"/>
            </a:solidFill>
            <a:prstDash val="solid"/>
          </a:ln>
        </p:spPr>
      </p:sp>
      <p:sp>
        <p:nvSpPr>
          <p:cNvPr id="24" name="Text 19"/>
          <p:cNvSpPr/>
          <p:nvPr/>
        </p:nvSpPr>
        <p:spPr>
          <a:xfrm>
            <a:off x="7452360" y="5358384"/>
            <a:ext cx="1828800" cy="457200"/>
          </a:xfrm>
          <a:prstGeom prst="rect">
            <a:avLst/>
          </a:prstGeom>
          <a:noFill/>
          <a:ln/>
        </p:spPr>
        <p:txBody>
          <a:bodyPr wrap="square" lIns="0" tIns="0" rIns="0" bIns="0" rtlCol="0" anchor="ctr"/>
          <a:lstStyle/>
          <a:p>
            <a:pPr indent="0" marL="0">
              <a:buNone/>
            </a:pPr>
            <a:r>
              <a:rPr lang="en-US" sz="2600" dirty="0">
                <a:solidFill>
                  <a:srgbClr val="B8923A"/>
                </a:solidFill>
                <a:latin typeface="Spectral" pitchFamily="34" charset="0"/>
                <a:ea typeface="Spectral" pitchFamily="34" charset="-122"/>
                <a:cs typeface="Spectral" pitchFamily="34" charset="-120"/>
              </a:rPr>
              <a:t>seconds</a:t>
            </a:r>
            <a:endParaRPr lang="en-US" sz="2600" dirty="0"/>
          </a:p>
        </p:txBody>
      </p:sp>
      <p:sp>
        <p:nvSpPr>
          <p:cNvPr id="25" name="Text 20"/>
          <p:cNvSpPr/>
          <p:nvPr/>
        </p:nvSpPr>
        <p:spPr>
          <a:xfrm>
            <a:off x="9372600" y="5358384"/>
            <a:ext cx="2148840" cy="713232"/>
          </a:xfrm>
          <a:prstGeom prst="rect">
            <a:avLst/>
          </a:prstGeom>
          <a:noFill/>
          <a:ln/>
        </p:spPr>
        <p:txBody>
          <a:bodyPr wrap="square" lIns="0" tIns="0" rIns="0" bIns="0" rtlCol="0" anchor="ctr"/>
          <a:lstStyle/>
          <a:p>
            <a:pPr indent="0" marL="0">
              <a:lnSpc>
                <a:spcPts val="1500"/>
              </a:lnSpc>
              <a:buNone/>
            </a:pPr>
            <a:r>
              <a:rPr lang="en-US" sz="1150" dirty="0">
                <a:solidFill>
                  <a:srgbClr val="D8D2C4"/>
                </a:solidFill>
                <a:latin typeface="Arial" pitchFamily="34" charset="0"/>
                <a:ea typeface="Arial" pitchFamily="34" charset="-122"/>
                <a:cs typeface="Arial" pitchFamily="34" charset="-120"/>
              </a:rPr>
              <a:t>when the context is already connected —</a:t>
            </a:r>
            <a:endParaRPr lang="en-US" sz="1150" dirty="0"/>
          </a:p>
          <a:p>
            <a:pPr indent="0" marL="0">
              <a:lnSpc>
                <a:spcPts val="1500"/>
              </a:lnSpc>
              <a:buNone/>
            </a:pPr>
            <a:r>
              <a:rPr lang="en-US" sz="1150" dirty="0">
                <a:solidFill>
                  <a:srgbClr val="D8D2C4"/>
                </a:solidFill>
                <a:latin typeface="Arial" pitchFamily="34" charset="0"/>
                <a:ea typeface="Arial" pitchFamily="34" charset="-122"/>
                <a:cs typeface="Arial" pitchFamily="34" charset="-120"/>
              </a:rPr>
              <a:t>while the moment still matters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B8923A"/>
                </a:solidFill>
                <a:latin typeface="Courier New" pitchFamily="34" charset="0"/>
                <a:ea typeface="Courier New" pitchFamily="34" charset="-122"/>
                <a:cs typeface="Courier New" pitchFamily="34" charset="-120"/>
              </a:rPr>
              <a:t>02 · THE CONCEPT</a:t>
            </a:r>
            <a:endParaRPr lang="en-US" sz="1100" dirty="0"/>
          </a:p>
        </p:txBody>
      </p:sp>
      <p:sp>
        <p:nvSpPr>
          <p:cNvPr id="3" name="Text 1"/>
          <p:cNvSpPr/>
          <p:nvPr/>
        </p:nvSpPr>
        <p:spPr>
          <a:xfrm>
            <a:off x="640080" y="786384"/>
            <a:ext cx="10972800" cy="603504"/>
          </a:xfrm>
          <a:prstGeom prst="rect">
            <a:avLst/>
          </a:prstGeom>
          <a:noFill/>
          <a:ln/>
        </p:spPr>
        <p:txBody>
          <a:bodyPr wrap="square" lIns="0" tIns="0" rIns="0" bIns="0" rtlCol="0" anchor="ctr"/>
          <a:lstStyle/>
          <a:p>
            <a:pPr indent="0" marL="0">
              <a:buNone/>
            </a:pPr>
            <a:r>
              <a:rPr lang="en-US" sz="2800" dirty="0">
                <a:solidFill>
                  <a:srgbClr val="1A1A1A"/>
                </a:solidFill>
                <a:latin typeface="Spectral" pitchFamily="34" charset="0"/>
                <a:ea typeface="Spectral" pitchFamily="34" charset="-122"/>
                <a:cs typeface="Spectral" pitchFamily="34" charset="-120"/>
              </a:rPr>
              <a:t>One graph over the systems Nike already runs</a:t>
            </a:r>
            <a:endParaRPr lang="en-US" sz="2800" dirty="0"/>
          </a:p>
        </p:txBody>
      </p:sp>
      <p:sp>
        <p:nvSpPr>
          <p:cNvPr id="4" name="Shape 2"/>
          <p:cNvSpPr/>
          <p:nvPr/>
        </p:nvSpPr>
        <p:spPr>
          <a:xfrm>
            <a:off x="640080" y="1691640"/>
            <a:ext cx="438912" cy="438912"/>
          </a:xfrm>
          <a:prstGeom prst="ellipse">
            <a:avLst/>
          </a:prstGeom>
          <a:solidFill>
            <a:srgbClr val="16341F"/>
          </a:solidFill>
          <a:ln/>
        </p:spPr>
      </p:sp>
      <p:pic>
        <p:nvPicPr>
          <p:cNvPr id="5" name="Image 0" descr="preencoded.png">    </p:cNvPr>
          <p:cNvPicPr>
            <a:picLocks noChangeAspect="1"/>
          </p:cNvPicPr>
          <p:nvPr/>
        </p:nvPicPr>
        <p:blipFill>
          <a:blip r:embed="rId1"/>
          <a:stretch>
            <a:fillRect/>
          </a:stretch>
        </p:blipFill>
        <p:spPr>
          <a:xfrm>
            <a:off x="740664" y="1792224"/>
            <a:ext cx="237744" cy="237744"/>
          </a:xfrm>
          <a:prstGeom prst="rect">
            <a:avLst/>
          </a:prstGeom>
        </p:spPr>
      </p:pic>
      <p:sp>
        <p:nvSpPr>
          <p:cNvPr id="6" name="Text 3"/>
          <p:cNvSpPr/>
          <p:nvPr/>
        </p:nvSpPr>
        <p:spPr>
          <a:xfrm>
            <a:off x="1261872" y="1655064"/>
            <a:ext cx="4572000" cy="310896"/>
          </a:xfrm>
          <a:prstGeom prst="rect">
            <a:avLst/>
          </a:prstGeom>
          <a:noFill/>
          <a:ln/>
        </p:spPr>
        <p:txBody>
          <a:bodyPr wrap="square" lIns="0" tIns="0" rIns="0" bIns="0" rtlCol="0" anchor="ctr"/>
          <a:lstStyle/>
          <a:p>
            <a:pPr indent="0" marL="0">
              <a:buNone/>
            </a:pPr>
            <a:r>
              <a:rPr lang="en-US" sz="1550" dirty="0">
                <a:solidFill>
                  <a:srgbClr val="1A1A1A"/>
                </a:solidFill>
                <a:latin typeface="Spectral" pitchFamily="34" charset="0"/>
                <a:ea typeface="Spectral" pitchFamily="34" charset="-122"/>
                <a:cs typeface="Spectral" pitchFamily="34" charset="-120"/>
              </a:rPr>
              <a:t>Nodes — the retail objects</a:t>
            </a:r>
            <a:endParaRPr lang="en-US" sz="1550" dirty="0"/>
          </a:p>
        </p:txBody>
      </p:sp>
      <p:sp>
        <p:nvSpPr>
          <p:cNvPr id="7" name="Text 4"/>
          <p:cNvSpPr/>
          <p:nvPr/>
        </p:nvSpPr>
        <p:spPr>
          <a:xfrm>
            <a:off x="1261872" y="1984248"/>
            <a:ext cx="4526280" cy="603504"/>
          </a:xfrm>
          <a:prstGeom prst="rect">
            <a:avLst/>
          </a:prstGeom>
          <a:noFill/>
          <a:ln/>
        </p:spPr>
        <p:txBody>
          <a:bodyPr wrap="square" lIns="0" tIns="0" rIns="0" bIns="0" rtlCol="0" anchor="ctr"/>
          <a:lstStyle/>
          <a:p>
            <a:pPr indent="0" marL="0">
              <a:lnSpc>
                <a:spcPts val="1550"/>
              </a:lnSpc>
              <a:buNone/>
            </a:pPr>
            <a:r>
              <a:rPr lang="en-US" sz="1150" dirty="0">
                <a:solidFill>
                  <a:srgbClr val="5B5547"/>
                </a:solidFill>
                <a:latin typeface="Arial" pitchFamily="34" charset="0"/>
                <a:ea typeface="Arial" pitchFamily="34" charset="-122"/>
                <a:cs typeface="Arial" pitchFamily="34" charset="-120"/>
              </a:rPr>
              <a:t>15 objects: Product, Store, Demand Signal, Campaign, Media Spend, Inventory, Replenishment, Event, Team…</a:t>
            </a:r>
            <a:endParaRPr lang="en-US" sz="1150" dirty="0"/>
          </a:p>
        </p:txBody>
      </p:sp>
      <p:sp>
        <p:nvSpPr>
          <p:cNvPr id="8" name="Shape 5"/>
          <p:cNvSpPr/>
          <p:nvPr/>
        </p:nvSpPr>
        <p:spPr>
          <a:xfrm>
            <a:off x="640080" y="2734056"/>
            <a:ext cx="438912" cy="438912"/>
          </a:xfrm>
          <a:prstGeom prst="ellipse">
            <a:avLst/>
          </a:prstGeom>
          <a:solidFill>
            <a:srgbClr val="16341F"/>
          </a:solidFill>
          <a:ln/>
        </p:spPr>
      </p:sp>
      <p:pic>
        <p:nvPicPr>
          <p:cNvPr id="9" name="Image 1" descr="preencoded.png">    </p:cNvPr>
          <p:cNvPicPr>
            <a:picLocks noChangeAspect="1"/>
          </p:cNvPicPr>
          <p:nvPr/>
        </p:nvPicPr>
        <p:blipFill>
          <a:blip r:embed="rId2"/>
          <a:stretch>
            <a:fillRect/>
          </a:stretch>
        </p:blipFill>
        <p:spPr>
          <a:xfrm>
            <a:off x="740664" y="2834640"/>
            <a:ext cx="237744" cy="237744"/>
          </a:xfrm>
          <a:prstGeom prst="rect">
            <a:avLst/>
          </a:prstGeom>
        </p:spPr>
      </p:pic>
      <p:sp>
        <p:nvSpPr>
          <p:cNvPr id="10" name="Text 6"/>
          <p:cNvSpPr/>
          <p:nvPr/>
        </p:nvSpPr>
        <p:spPr>
          <a:xfrm>
            <a:off x="1261872" y="2697480"/>
            <a:ext cx="4572000" cy="310896"/>
          </a:xfrm>
          <a:prstGeom prst="rect">
            <a:avLst/>
          </a:prstGeom>
          <a:noFill/>
          <a:ln/>
        </p:spPr>
        <p:txBody>
          <a:bodyPr wrap="square" lIns="0" tIns="0" rIns="0" bIns="0" rtlCol="0" anchor="ctr"/>
          <a:lstStyle/>
          <a:p>
            <a:pPr indent="0" marL="0">
              <a:buNone/>
            </a:pPr>
            <a:r>
              <a:rPr lang="en-US" sz="1550" dirty="0">
                <a:solidFill>
                  <a:srgbClr val="1A1A1A"/>
                </a:solidFill>
                <a:latin typeface="Spectral" pitchFamily="34" charset="0"/>
                <a:ea typeface="Spectral" pitchFamily="34" charset="-122"/>
                <a:cs typeface="Spectral" pitchFamily="34" charset="-120"/>
              </a:rPr>
              <a:t>Edges — the relationships</a:t>
            </a:r>
            <a:endParaRPr lang="en-US" sz="1550" dirty="0"/>
          </a:p>
        </p:txBody>
      </p:sp>
      <p:sp>
        <p:nvSpPr>
          <p:cNvPr id="11" name="Text 7"/>
          <p:cNvSpPr/>
          <p:nvPr/>
        </p:nvSpPr>
        <p:spPr>
          <a:xfrm>
            <a:off x="1261872" y="3026664"/>
            <a:ext cx="4526280" cy="603504"/>
          </a:xfrm>
          <a:prstGeom prst="rect">
            <a:avLst/>
          </a:prstGeom>
          <a:noFill/>
          <a:ln/>
        </p:spPr>
        <p:txBody>
          <a:bodyPr wrap="square" lIns="0" tIns="0" rIns="0" bIns="0" rtlCol="0" anchor="ctr"/>
          <a:lstStyle/>
          <a:p>
            <a:pPr indent="0" marL="0">
              <a:lnSpc>
                <a:spcPts val="1550"/>
              </a:lnSpc>
              <a:buNone/>
            </a:pPr>
            <a:r>
              <a:rPr lang="en-US" sz="1150" dirty="0">
                <a:solidFill>
                  <a:srgbClr val="5B5547"/>
                </a:solidFill>
                <a:latin typeface="Arial" pitchFamily="34" charset="0"/>
                <a:ea typeface="Arial" pitchFamily="34" charset="-122"/>
                <a:cs typeface="Arial" pitchFamily="34" charset="-120"/>
              </a:rPr>
              <a:t>27 connections that make attribution walkable: SOLD_AT · DRIVEN_BY · INFLUENCED_BY · CONSTRAINED_BY</a:t>
            </a:r>
            <a:endParaRPr lang="en-US" sz="1150" dirty="0"/>
          </a:p>
        </p:txBody>
      </p:sp>
      <p:sp>
        <p:nvSpPr>
          <p:cNvPr id="12" name="Shape 8"/>
          <p:cNvSpPr/>
          <p:nvPr/>
        </p:nvSpPr>
        <p:spPr>
          <a:xfrm>
            <a:off x="640080" y="3776472"/>
            <a:ext cx="438912" cy="438912"/>
          </a:xfrm>
          <a:prstGeom prst="ellipse">
            <a:avLst/>
          </a:prstGeom>
          <a:solidFill>
            <a:srgbClr val="16341F"/>
          </a:solidFill>
          <a:ln/>
        </p:spPr>
      </p:sp>
      <p:pic>
        <p:nvPicPr>
          <p:cNvPr id="13" name="Image 2" descr="preencoded.png">    </p:cNvPr>
          <p:cNvPicPr>
            <a:picLocks noChangeAspect="1"/>
          </p:cNvPicPr>
          <p:nvPr/>
        </p:nvPicPr>
        <p:blipFill>
          <a:blip r:embed="rId3"/>
          <a:stretch>
            <a:fillRect/>
          </a:stretch>
        </p:blipFill>
        <p:spPr>
          <a:xfrm>
            <a:off x="740664" y="3877056"/>
            <a:ext cx="237744" cy="237744"/>
          </a:xfrm>
          <a:prstGeom prst="rect">
            <a:avLst/>
          </a:prstGeom>
        </p:spPr>
      </p:pic>
      <p:sp>
        <p:nvSpPr>
          <p:cNvPr id="14" name="Text 9"/>
          <p:cNvSpPr/>
          <p:nvPr/>
        </p:nvSpPr>
        <p:spPr>
          <a:xfrm>
            <a:off x="1261872" y="3739896"/>
            <a:ext cx="4572000" cy="310896"/>
          </a:xfrm>
          <a:prstGeom prst="rect">
            <a:avLst/>
          </a:prstGeom>
          <a:noFill/>
          <a:ln/>
        </p:spPr>
        <p:txBody>
          <a:bodyPr wrap="square" lIns="0" tIns="0" rIns="0" bIns="0" rtlCol="0" anchor="ctr"/>
          <a:lstStyle/>
          <a:p>
            <a:pPr indent="0" marL="0">
              <a:buNone/>
            </a:pPr>
            <a:r>
              <a:rPr lang="en-US" sz="1550" dirty="0">
                <a:solidFill>
                  <a:srgbClr val="1A1A1A"/>
                </a:solidFill>
                <a:latin typeface="Spectral" pitchFamily="34" charset="0"/>
                <a:ea typeface="Spectral" pitchFamily="34" charset="-122"/>
                <a:cs typeface="Spectral" pitchFamily="34" charset="-120"/>
              </a:rPr>
              <a:t>Sources — the systems of record</a:t>
            </a:r>
            <a:endParaRPr lang="en-US" sz="1550" dirty="0"/>
          </a:p>
        </p:txBody>
      </p:sp>
      <p:sp>
        <p:nvSpPr>
          <p:cNvPr id="15" name="Text 10"/>
          <p:cNvSpPr/>
          <p:nvPr/>
        </p:nvSpPr>
        <p:spPr>
          <a:xfrm>
            <a:off x="1261872" y="4069080"/>
            <a:ext cx="4526280" cy="603504"/>
          </a:xfrm>
          <a:prstGeom prst="rect">
            <a:avLst/>
          </a:prstGeom>
          <a:noFill/>
          <a:ln/>
        </p:spPr>
        <p:txBody>
          <a:bodyPr wrap="square" lIns="0" tIns="0" rIns="0" bIns="0" rtlCol="0" anchor="ctr"/>
          <a:lstStyle/>
          <a:p>
            <a:pPr indent="0" marL="0">
              <a:lnSpc>
                <a:spcPts val="1550"/>
              </a:lnSpc>
              <a:buNone/>
            </a:pPr>
            <a:r>
              <a:rPr lang="en-US" sz="1150" dirty="0">
                <a:solidFill>
                  <a:srgbClr val="5B5547"/>
                </a:solidFill>
                <a:latin typeface="Arial" pitchFamily="34" charset="0"/>
                <a:ea typeface="Arial" pitchFamily="34" charset="-122"/>
                <a:cs typeface="Arial" pitchFamily="34" charset="-120"/>
              </a:rPr>
              <a:t>SAP, Commerce Cloud, Retail POS, Snowflake, o9, Manhattan WMS, Adobe, Paid Media, Marketing Cloud, Market Signals</a:t>
            </a:r>
            <a:endParaRPr lang="en-US" sz="1150" dirty="0"/>
          </a:p>
        </p:txBody>
      </p:sp>
      <p:sp>
        <p:nvSpPr>
          <p:cNvPr id="16" name="Shape 11"/>
          <p:cNvSpPr/>
          <p:nvPr/>
        </p:nvSpPr>
        <p:spPr>
          <a:xfrm>
            <a:off x="640080" y="4956048"/>
            <a:ext cx="5148072" cy="1234440"/>
          </a:xfrm>
          <a:prstGeom prst="roundRect">
            <a:avLst>
              <a:gd name="adj" fmla="val 6667"/>
            </a:avLst>
          </a:prstGeom>
          <a:solidFill>
            <a:srgbClr val="F5EEDF"/>
          </a:solidFill>
          <a:ln w="9525">
            <a:solidFill>
              <a:srgbClr val="E4D5B0"/>
            </a:solidFill>
            <a:prstDash val="solid"/>
          </a:ln>
        </p:spPr>
      </p:sp>
      <p:sp>
        <p:nvSpPr>
          <p:cNvPr id="17" name="Text 12"/>
          <p:cNvSpPr/>
          <p:nvPr/>
        </p:nvSpPr>
        <p:spPr>
          <a:xfrm>
            <a:off x="914400" y="5175504"/>
            <a:ext cx="4617720" cy="822960"/>
          </a:xfrm>
          <a:prstGeom prst="rect">
            <a:avLst/>
          </a:prstGeom>
          <a:noFill/>
          <a:ln/>
        </p:spPr>
        <p:txBody>
          <a:bodyPr wrap="square" lIns="0" tIns="0" rIns="0" bIns="0" rtlCol="0" anchor="ctr"/>
          <a:lstStyle/>
          <a:p>
            <a:pPr indent="0" marL="0">
              <a:lnSpc>
                <a:spcPts val="1750"/>
              </a:lnSpc>
              <a:buNone/>
            </a:pPr>
            <a:r>
              <a:rPr lang="en-US" sz="1250" b="1" dirty="0">
                <a:solidFill>
                  <a:srgbClr val="1A1A1A"/>
                </a:solidFill>
                <a:latin typeface="Arial" pitchFamily="34" charset="0"/>
                <a:ea typeface="Arial" pitchFamily="34" charset="-122"/>
                <a:cs typeface="Arial" pitchFamily="34" charset="-120"/>
              </a:rPr>
              <a:t>Anchored on Product × Store</a:t>
            </a:r>
            <a:pPr indent="0" marL="0">
              <a:lnSpc>
                <a:spcPts val="1750"/>
              </a:lnSpc>
              <a:buNone/>
            </a:pPr>
            <a:r>
              <a:rPr lang="en-US" sz="1250" dirty="0">
                <a:solidFill>
                  <a:srgbClr val="5B5547"/>
                </a:solidFill>
                <a:latin typeface="Arial" pitchFamily="34" charset="0"/>
                <a:ea typeface="Arial" pitchFamily="34" charset="-122"/>
                <a:cs typeface="Arial" pitchFamily="34" charset="-120"/>
              </a:rPr>
              <a:t> — the level where every “why is this selling here” question actually lands.</a:t>
            </a:r>
            <a:endParaRPr lang="en-US" sz="1250" dirty="0"/>
          </a:p>
        </p:txBody>
      </p:sp>
      <p:pic>
        <p:nvPicPr>
          <p:cNvPr id="18" name="Image 3" descr="/private/tmp/claude-501/-Users-rohanvijay-New-Navigation/51738f4d-614f-49e0-8dfa-729e8c75bcb4/scratchpad/crop-graph.png">    </p:cNvPr>
          <p:cNvPicPr>
            <a:picLocks noChangeAspect="1"/>
          </p:cNvPicPr>
          <p:nvPr/>
        </p:nvPicPr>
        <p:blipFill>
          <a:blip r:embed="rId4"/>
          <a:stretch>
            <a:fillRect/>
          </a:stretch>
        </p:blipFill>
        <p:spPr>
          <a:xfrm>
            <a:off x="6199632" y="1691640"/>
            <a:ext cx="5440680" cy="3547872"/>
          </a:xfrm>
          <a:prstGeom prst="rect">
            <a:avLst/>
          </a:prstGeom>
        </p:spPr>
      </p:pic>
      <p:sp>
        <p:nvSpPr>
          <p:cNvPr id="19" name="Text 13"/>
          <p:cNvSpPr/>
          <p:nvPr/>
        </p:nvSpPr>
        <p:spPr>
          <a:xfrm>
            <a:off x="6199632" y="5349240"/>
            <a:ext cx="5440680" cy="274320"/>
          </a:xfrm>
          <a:prstGeom prst="rect">
            <a:avLst/>
          </a:prstGeom>
          <a:noFill/>
          <a:ln/>
        </p:spPr>
        <p:txBody>
          <a:bodyPr wrap="square" lIns="0" tIns="0" rIns="0" bIns="0" rtlCol="0" anchor="ctr"/>
          <a:lstStyle/>
          <a:p>
            <a:pPr algn="ctr" indent="0" marL="0">
              <a:buNone/>
            </a:pPr>
            <a:r>
              <a:rPr lang="en-US" sz="1050" dirty="0">
                <a:solidFill>
                  <a:srgbClr val="8A857C"/>
                </a:solidFill>
                <a:latin typeface="Arial" pitchFamily="34" charset="0"/>
                <a:ea typeface="Arial" pitchFamily="34" charset="-122"/>
                <a:cs typeface="Arial" pitchFamily="34" charset="-120"/>
              </a:rPr>
              <a:t>The live Nike Retail Context Graph in the prototype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B8923A"/>
                </a:solidFill>
                <a:latin typeface="Courier New" pitchFamily="34" charset="0"/>
                <a:ea typeface="Courier New" pitchFamily="34" charset="-122"/>
                <a:cs typeface="Courier New" pitchFamily="34" charset="-120"/>
              </a:rPr>
              <a:t>03 · WHY A GRAPH</a:t>
            </a:r>
            <a:endParaRPr lang="en-US" sz="1100" dirty="0"/>
          </a:p>
        </p:txBody>
      </p:sp>
      <p:sp>
        <p:nvSpPr>
          <p:cNvPr id="3" name="Text 1"/>
          <p:cNvSpPr/>
          <p:nvPr/>
        </p:nvSpPr>
        <p:spPr>
          <a:xfrm>
            <a:off x="640080" y="786384"/>
            <a:ext cx="10972800" cy="603504"/>
          </a:xfrm>
          <a:prstGeom prst="rect">
            <a:avLst/>
          </a:prstGeom>
          <a:noFill/>
          <a:ln/>
        </p:spPr>
        <p:txBody>
          <a:bodyPr wrap="square" lIns="0" tIns="0" rIns="0" bIns="0" rtlCol="0" anchor="ctr"/>
          <a:lstStyle/>
          <a:p>
            <a:pPr indent="0" marL="0">
              <a:buNone/>
            </a:pPr>
            <a:r>
              <a:rPr lang="en-US" sz="2800" dirty="0">
                <a:solidFill>
                  <a:srgbClr val="1A1A1A"/>
                </a:solidFill>
                <a:latin typeface="Spectral" pitchFamily="34" charset="0"/>
                <a:ea typeface="Spectral" pitchFamily="34" charset="-122"/>
                <a:cs typeface="Spectral" pitchFamily="34" charset="-120"/>
              </a:rPr>
              <a:t>Attribution is traversal — not another dashboard</a:t>
            </a:r>
            <a:endParaRPr lang="en-US" sz="2800" dirty="0"/>
          </a:p>
        </p:txBody>
      </p:sp>
      <p:sp>
        <p:nvSpPr>
          <p:cNvPr id="4" name="Shape 2"/>
          <p:cNvSpPr/>
          <p:nvPr/>
        </p:nvSpPr>
        <p:spPr>
          <a:xfrm>
            <a:off x="640080" y="1920240"/>
            <a:ext cx="493776" cy="493776"/>
          </a:xfrm>
          <a:prstGeom prst="ellipse">
            <a:avLst/>
          </a:prstGeom>
          <a:solidFill>
            <a:srgbClr val="16341F"/>
          </a:solidFill>
          <a:ln/>
        </p:spPr>
      </p:sp>
      <p:pic>
        <p:nvPicPr>
          <p:cNvPr id="5" name="Image 0" descr="preencoded.png">    </p:cNvPr>
          <p:cNvPicPr>
            <a:picLocks noChangeAspect="1"/>
          </p:cNvPicPr>
          <p:nvPr/>
        </p:nvPicPr>
        <p:blipFill>
          <a:blip r:embed="rId1"/>
          <a:stretch>
            <a:fillRect/>
          </a:stretch>
        </p:blipFill>
        <p:spPr>
          <a:xfrm>
            <a:off x="754380" y="2034540"/>
            <a:ext cx="265176" cy="265176"/>
          </a:xfrm>
          <a:prstGeom prst="rect">
            <a:avLst/>
          </a:prstGeom>
        </p:spPr>
      </p:pic>
      <p:sp>
        <p:nvSpPr>
          <p:cNvPr id="6" name="Text 3"/>
          <p:cNvSpPr/>
          <p:nvPr/>
        </p:nvSpPr>
        <p:spPr>
          <a:xfrm>
            <a:off x="640080" y="2606040"/>
            <a:ext cx="3474720" cy="365760"/>
          </a:xfrm>
          <a:prstGeom prst="rect">
            <a:avLst/>
          </a:prstGeom>
          <a:noFill/>
          <a:ln/>
        </p:spPr>
        <p:txBody>
          <a:bodyPr wrap="square" lIns="0" tIns="0" rIns="0" bIns="0" rtlCol="0" anchor="ctr"/>
          <a:lstStyle/>
          <a:p>
            <a:pPr indent="0" marL="0">
              <a:buNone/>
            </a:pPr>
            <a:r>
              <a:rPr lang="en-US" sz="1700" dirty="0">
                <a:solidFill>
                  <a:srgbClr val="1A1A1A"/>
                </a:solidFill>
                <a:latin typeface="Spectral" pitchFamily="34" charset="0"/>
                <a:ea typeface="Spectral" pitchFamily="34" charset="-122"/>
                <a:cs typeface="Spectral" pitchFamily="34" charset="-120"/>
              </a:rPr>
              <a:t>Connected, not joined</a:t>
            </a:r>
            <a:endParaRPr lang="en-US" sz="1700" dirty="0"/>
          </a:p>
        </p:txBody>
      </p:sp>
      <p:sp>
        <p:nvSpPr>
          <p:cNvPr id="7" name="Text 4"/>
          <p:cNvSpPr/>
          <p:nvPr/>
        </p:nvSpPr>
        <p:spPr>
          <a:xfrm>
            <a:off x="640080" y="3035808"/>
            <a:ext cx="3429000" cy="1371600"/>
          </a:xfrm>
          <a:prstGeom prst="rect">
            <a:avLst/>
          </a:prstGeom>
          <a:noFill/>
          <a:ln/>
        </p:spPr>
        <p:txBody>
          <a:bodyPr wrap="square" lIns="0" tIns="0" rIns="0" bIns="0" rtlCol="0" anchor="ctr"/>
          <a:lstStyle/>
          <a:p>
            <a:pPr indent="0" marL="0">
              <a:lnSpc>
                <a:spcPts val="1800"/>
              </a:lnSpc>
              <a:buNone/>
            </a:pPr>
            <a:r>
              <a:rPr lang="en-US" sz="1250" dirty="0">
                <a:solidFill>
                  <a:srgbClr val="5B5547"/>
                </a:solidFill>
                <a:latin typeface="Arial" pitchFamily="34" charset="0"/>
                <a:ea typeface="Arial" pitchFamily="34" charset="-122"/>
                <a:cs typeface="Arial" pitchFamily="34" charset="-120"/>
              </a:rPr>
              <a:t>Demand, media and supply meet at Product × Store × Time. Answering “why” becomes a graph walk — not a quarter-long BI project.</a:t>
            </a:r>
            <a:endParaRPr lang="en-US" sz="1250" dirty="0"/>
          </a:p>
        </p:txBody>
      </p:sp>
      <p:sp>
        <p:nvSpPr>
          <p:cNvPr id="8" name="Shape 5"/>
          <p:cNvSpPr/>
          <p:nvPr/>
        </p:nvSpPr>
        <p:spPr>
          <a:xfrm>
            <a:off x="4462272" y="1920240"/>
            <a:ext cx="493776" cy="493776"/>
          </a:xfrm>
          <a:prstGeom prst="ellipse">
            <a:avLst/>
          </a:prstGeom>
          <a:solidFill>
            <a:srgbClr val="16341F"/>
          </a:solidFill>
          <a:ln/>
        </p:spPr>
      </p:sp>
      <p:pic>
        <p:nvPicPr>
          <p:cNvPr id="9" name="Image 1" descr="preencoded.png">    </p:cNvPr>
          <p:cNvPicPr>
            <a:picLocks noChangeAspect="1"/>
          </p:cNvPicPr>
          <p:nvPr/>
        </p:nvPicPr>
        <p:blipFill>
          <a:blip r:embed="rId2"/>
          <a:stretch>
            <a:fillRect/>
          </a:stretch>
        </p:blipFill>
        <p:spPr>
          <a:xfrm>
            <a:off x="4576572" y="2034540"/>
            <a:ext cx="265176" cy="265176"/>
          </a:xfrm>
          <a:prstGeom prst="rect">
            <a:avLst/>
          </a:prstGeom>
        </p:spPr>
      </p:pic>
      <p:sp>
        <p:nvSpPr>
          <p:cNvPr id="10" name="Text 6"/>
          <p:cNvSpPr/>
          <p:nvPr/>
        </p:nvSpPr>
        <p:spPr>
          <a:xfrm>
            <a:off x="4462272" y="2606040"/>
            <a:ext cx="3474720" cy="365760"/>
          </a:xfrm>
          <a:prstGeom prst="rect">
            <a:avLst/>
          </a:prstGeom>
          <a:noFill/>
          <a:ln/>
        </p:spPr>
        <p:txBody>
          <a:bodyPr wrap="square" lIns="0" tIns="0" rIns="0" bIns="0" rtlCol="0" anchor="ctr"/>
          <a:lstStyle/>
          <a:p>
            <a:pPr indent="0" marL="0">
              <a:buNone/>
            </a:pPr>
            <a:r>
              <a:rPr lang="en-US" sz="1700" dirty="0">
                <a:solidFill>
                  <a:srgbClr val="1A1A1A"/>
                </a:solidFill>
                <a:latin typeface="Spectral" pitchFamily="34" charset="0"/>
                <a:ea typeface="Spectral" pitchFamily="34" charset="-122"/>
                <a:cs typeface="Spectral" pitchFamily="34" charset="-120"/>
              </a:rPr>
              <a:t>Multi-modal retrieval</a:t>
            </a:r>
            <a:endParaRPr lang="en-US" sz="1700" dirty="0"/>
          </a:p>
        </p:txBody>
      </p:sp>
      <p:sp>
        <p:nvSpPr>
          <p:cNvPr id="11" name="Text 7"/>
          <p:cNvSpPr/>
          <p:nvPr/>
        </p:nvSpPr>
        <p:spPr>
          <a:xfrm>
            <a:off x="4462272" y="3035808"/>
            <a:ext cx="3429000" cy="1371600"/>
          </a:xfrm>
          <a:prstGeom prst="rect">
            <a:avLst/>
          </a:prstGeom>
          <a:noFill/>
          <a:ln/>
        </p:spPr>
        <p:txBody>
          <a:bodyPr wrap="square" lIns="0" tIns="0" rIns="0" bIns="0" rtlCol="0" anchor="ctr"/>
          <a:lstStyle/>
          <a:p>
            <a:pPr indent="0" marL="0">
              <a:lnSpc>
                <a:spcPts val="1800"/>
              </a:lnSpc>
              <a:buNone/>
            </a:pPr>
            <a:r>
              <a:rPr lang="en-US" sz="1250" dirty="0">
                <a:solidFill>
                  <a:srgbClr val="5B5547"/>
                </a:solidFill>
                <a:latin typeface="Arial" pitchFamily="34" charset="0"/>
                <a:ea typeface="Arial" pitchFamily="34" charset="-122"/>
                <a:cs typeface="Arial" pitchFamily="34" charset="-120"/>
              </a:rPr>
              <a:t>Agents pick the right tool per hop: Cypher on the graph, SQL on Snowflake, semantic search across knowledge — in one chain of thought.</a:t>
            </a:r>
            <a:endParaRPr lang="en-US" sz="1250" dirty="0"/>
          </a:p>
        </p:txBody>
      </p:sp>
      <p:sp>
        <p:nvSpPr>
          <p:cNvPr id="12" name="Shape 8"/>
          <p:cNvSpPr/>
          <p:nvPr/>
        </p:nvSpPr>
        <p:spPr>
          <a:xfrm>
            <a:off x="8284464" y="1920240"/>
            <a:ext cx="493776" cy="493776"/>
          </a:xfrm>
          <a:prstGeom prst="ellipse">
            <a:avLst/>
          </a:prstGeom>
          <a:solidFill>
            <a:srgbClr val="16341F"/>
          </a:solidFill>
          <a:ln/>
        </p:spPr>
      </p:sp>
      <p:pic>
        <p:nvPicPr>
          <p:cNvPr id="13" name="Image 2" descr="preencoded.png">    </p:cNvPr>
          <p:cNvPicPr>
            <a:picLocks noChangeAspect="1"/>
          </p:cNvPicPr>
          <p:nvPr/>
        </p:nvPicPr>
        <p:blipFill>
          <a:blip r:embed="rId3"/>
          <a:stretch>
            <a:fillRect/>
          </a:stretch>
        </p:blipFill>
        <p:spPr>
          <a:xfrm>
            <a:off x="8398764" y="2034540"/>
            <a:ext cx="265176" cy="265176"/>
          </a:xfrm>
          <a:prstGeom prst="rect">
            <a:avLst/>
          </a:prstGeom>
        </p:spPr>
      </p:pic>
      <p:sp>
        <p:nvSpPr>
          <p:cNvPr id="14" name="Text 9"/>
          <p:cNvSpPr/>
          <p:nvPr/>
        </p:nvSpPr>
        <p:spPr>
          <a:xfrm>
            <a:off x="8284464" y="2606040"/>
            <a:ext cx="3474720" cy="365760"/>
          </a:xfrm>
          <a:prstGeom prst="rect">
            <a:avLst/>
          </a:prstGeom>
          <a:noFill/>
          <a:ln/>
        </p:spPr>
        <p:txBody>
          <a:bodyPr wrap="square" lIns="0" tIns="0" rIns="0" bIns="0" rtlCol="0" anchor="ctr"/>
          <a:lstStyle/>
          <a:p>
            <a:pPr indent="0" marL="0">
              <a:buNone/>
            </a:pPr>
            <a:r>
              <a:rPr lang="en-US" sz="1700" dirty="0">
                <a:solidFill>
                  <a:srgbClr val="1A1A1A"/>
                </a:solidFill>
                <a:latin typeface="Spectral" pitchFamily="34" charset="0"/>
                <a:ea typeface="Spectral" pitchFamily="34" charset="-122"/>
                <a:cs typeface="Spectral" pitchFamily="34" charset="-120"/>
              </a:rPr>
              <a:t>Answers you can audit</a:t>
            </a:r>
            <a:endParaRPr lang="en-US" sz="1700" dirty="0"/>
          </a:p>
        </p:txBody>
      </p:sp>
      <p:sp>
        <p:nvSpPr>
          <p:cNvPr id="15" name="Text 10"/>
          <p:cNvSpPr/>
          <p:nvPr/>
        </p:nvSpPr>
        <p:spPr>
          <a:xfrm>
            <a:off x="8284464" y="3035808"/>
            <a:ext cx="3429000" cy="1371600"/>
          </a:xfrm>
          <a:prstGeom prst="rect">
            <a:avLst/>
          </a:prstGeom>
          <a:noFill/>
          <a:ln/>
        </p:spPr>
        <p:txBody>
          <a:bodyPr wrap="square" lIns="0" tIns="0" rIns="0" bIns="0" rtlCol="0" anchor="ctr"/>
          <a:lstStyle/>
          <a:p>
            <a:pPr indent="0" marL="0">
              <a:lnSpc>
                <a:spcPts val="1800"/>
              </a:lnSpc>
              <a:buNone/>
            </a:pPr>
            <a:r>
              <a:rPr lang="en-US" sz="1250" dirty="0">
                <a:solidFill>
                  <a:srgbClr val="5B5547"/>
                </a:solidFill>
                <a:latin typeface="Arial" pitchFamily="34" charset="0"/>
                <a:ea typeface="Arial" pitchFamily="34" charset="-122"/>
                <a:cs typeface="Arial" pitchFamily="34" charset="-120"/>
              </a:rPr>
              <a:t>Every claim carries a citation to the exact record it read — a demand signal, a spend line, an inventory position. Trust is built in.</a:t>
            </a:r>
            <a:endParaRPr lang="en-US" sz="1250" dirty="0"/>
          </a:p>
        </p:txBody>
      </p:sp>
      <p:sp>
        <p:nvSpPr>
          <p:cNvPr id="16" name="Shape 11"/>
          <p:cNvSpPr/>
          <p:nvPr/>
        </p:nvSpPr>
        <p:spPr>
          <a:xfrm>
            <a:off x="640080" y="4892040"/>
            <a:ext cx="10972800" cy="960120"/>
          </a:xfrm>
          <a:prstGeom prst="roundRect">
            <a:avLst>
              <a:gd name="adj" fmla="val 8571"/>
            </a:avLst>
          </a:prstGeom>
          <a:solidFill>
            <a:srgbClr val="F7F5F0"/>
          </a:solidFill>
          <a:ln w="9525">
            <a:solidFill>
              <a:srgbClr val="E7E3DA"/>
            </a:solidFill>
            <a:prstDash val="solid"/>
          </a:ln>
        </p:spPr>
      </p:sp>
      <p:sp>
        <p:nvSpPr>
          <p:cNvPr id="17" name="Text 12"/>
          <p:cNvSpPr/>
          <p:nvPr/>
        </p:nvSpPr>
        <p:spPr>
          <a:xfrm>
            <a:off x="914400" y="5029200"/>
            <a:ext cx="10515600" cy="694944"/>
          </a:xfrm>
          <a:prstGeom prst="rect">
            <a:avLst/>
          </a:prstGeom>
          <a:noFill/>
          <a:ln/>
        </p:spPr>
        <p:txBody>
          <a:bodyPr wrap="square" lIns="0" tIns="0" rIns="0" bIns="0" rtlCol="0" anchor="ctr"/>
          <a:lstStyle/>
          <a:p>
            <a:pPr indent="0" marL="0">
              <a:lnSpc>
                <a:spcPts val="1600"/>
              </a:lnSpc>
              <a:buNone/>
            </a:pPr>
            <a:r>
              <a:rPr lang="en-US" sz="1200" b="1" dirty="0">
                <a:solidFill>
                  <a:srgbClr val="1A1A1A"/>
                </a:solidFill>
                <a:latin typeface="Arial" pitchFamily="34" charset="0"/>
                <a:ea typeface="Arial" pitchFamily="34" charset="-122"/>
                <a:cs typeface="Arial" pitchFamily="34" charset="-120"/>
              </a:rPr>
              <a:t>One hop at a time:  </a:t>
            </a:r>
            <a:pPr indent="0" marL="0">
              <a:lnSpc>
                <a:spcPts val="1600"/>
              </a:lnSpc>
              <a:buNone/>
            </a:pPr>
            <a:r>
              <a:rPr lang="en-US" sz="1150" dirty="0">
                <a:solidFill>
                  <a:srgbClr val="2F6F43"/>
                </a:solidFill>
                <a:latin typeface="Courier New" pitchFamily="34" charset="0"/>
                <a:ea typeface="Courier New" pitchFamily="34" charset="-122"/>
                <a:cs typeface="Courier New" pitchFamily="34" charset="-120"/>
              </a:rPr>
              <a:t>Product → SOLD_AT → Store → HAS_DEMAND → Demand Signal → DRIVEN_BY → Event · INFLUENCED_BY → Campaign · CONSTRAINED_BY → Inventory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B8923A"/>
                </a:solidFill>
                <a:latin typeface="Courier New" pitchFamily="34" charset="0"/>
                <a:ea typeface="Courier New" pitchFamily="34" charset="-122"/>
                <a:cs typeface="Courier New" pitchFamily="34" charset="-120"/>
              </a:rPr>
              <a:t>04 · DEEP DIVE — THE TRACE</a:t>
            </a:r>
            <a:endParaRPr lang="en-US" sz="1100" dirty="0"/>
          </a:p>
        </p:txBody>
      </p:sp>
      <p:sp>
        <p:nvSpPr>
          <p:cNvPr id="3" name="Text 1"/>
          <p:cNvSpPr/>
          <p:nvPr/>
        </p:nvSpPr>
        <p:spPr>
          <a:xfrm>
            <a:off x="640080" y="786384"/>
            <a:ext cx="7315200" cy="548640"/>
          </a:xfrm>
          <a:prstGeom prst="rect">
            <a:avLst/>
          </a:prstGeom>
          <a:noFill/>
          <a:ln/>
        </p:spPr>
        <p:txBody>
          <a:bodyPr wrap="square" lIns="0" tIns="0" rIns="0" bIns="0" rtlCol="0" anchor="ctr"/>
          <a:lstStyle/>
          <a:p>
            <a:pPr indent="0" marL="0">
              <a:buNone/>
            </a:pPr>
            <a:r>
              <a:rPr lang="en-US" sz="2800" dirty="0">
                <a:solidFill>
                  <a:srgbClr val="1A1A1A"/>
                </a:solidFill>
                <a:latin typeface="Spectral" pitchFamily="34" charset="0"/>
                <a:ea typeface="Spectral" pitchFamily="34" charset="-122"/>
                <a:cs typeface="Spectral" pitchFamily="34" charset="-120"/>
              </a:rPr>
              <a:t>Watch the question run</a:t>
            </a:r>
            <a:endParaRPr lang="en-US" sz="2800" dirty="0"/>
          </a:p>
        </p:txBody>
      </p:sp>
      <p:sp>
        <p:nvSpPr>
          <p:cNvPr id="4" name="Text 2"/>
          <p:cNvSpPr/>
          <p:nvPr/>
        </p:nvSpPr>
        <p:spPr>
          <a:xfrm>
            <a:off x="640080" y="1389888"/>
            <a:ext cx="5852160" cy="512064"/>
          </a:xfrm>
          <a:prstGeom prst="rect">
            <a:avLst/>
          </a:prstGeom>
          <a:noFill/>
          <a:ln/>
        </p:spPr>
        <p:txBody>
          <a:bodyPr wrap="square" lIns="0" tIns="0" rIns="0" bIns="0" rtlCol="0" anchor="ctr"/>
          <a:lstStyle/>
          <a:p>
            <a:pPr indent="0" marL="0">
              <a:lnSpc>
                <a:spcPts val="1700"/>
              </a:lnSpc>
              <a:buNone/>
            </a:pPr>
            <a:r>
              <a:rPr lang="en-US" sz="1300" i="1" dirty="0">
                <a:solidFill>
                  <a:srgbClr val="5B5547"/>
                </a:solidFill>
                <a:latin typeface="Arial" pitchFamily="34" charset="0"/>
                <a:ea typeface="Arial" pitchFamily="34" charset="-122"/>
                <a:cs typeface="Arial" pitchFamily="34" charset="-120"/>
              </a:rPr>
              <a:t>“Why is Seattle outselling New York on the USMNT jersey this week?”</a:t>
            </a:r>
            <a:endParaRPr lang="en-US" sz="1300" dirty="0"/>
          </a:p>
        </p:txBody>
      </p:sp>
      <p:sp>
        <p:nvSpPr>
          <p:cNvPr id="5" name="Text 3"/>
          <p:cNvSpPr/>
          <p:nvPr/>
        </p:nvSpPr>
        <p:spPr>
          <a:xfrm>
            <a:off x="640080" y="2176272"/>
            <a:ext cx="274320" cy="274320"/>
          </a:xfrm>
          <a:prstGeom prst="rect">
            <a:avLst/>
          </a:prstGeom>
          <a:noFill/>
          <a:ln/>
        </p:spPr>
        <p:txBody>
          <a:bodyPr wrap="square" lIns="0" tIns="0" rIns="0" bIns="0" rtlCol="0" anchor="ctr"/>
          <a:lstStyle/>
          <a:p>
            <a:pPr indent="0" marL="0">
              <a:buNone/>
            </a:pPr>
            <a:r>
              <a:rPr lang="en-US" sz="1100" dirty="0">
                <a:solidFill>
                  <a:srgbClr val="8A857C"/>
                </a:solidFill>
                <a:latin typeface="Courier New" pitchFamily="34" charset="0"/>
                <a:ea typeface="Courier New" pitchFamily="34" charset="-122"/>
                <a:cs typeface="Courier New" pitchFamily="34" charset="-120"/>
              </a:rPr>
              <a:t>1</a:t>
            </a:r>
            <a:endParaRPr lang="en-US" sz="1100" dirty="0"/>
          </a:p>
        </p:txBody>
      </p:sp>
      <p:sp>
        <p:nvSpPr>
          <p:cNvPr id="6" name="Shape 4"/>
          <p:cNvSpPr/>
          <p:nvPr/>
        </p:nvSpPr>
        <p:spPr>
          <a:xfrm>
            <a:off x="960120" y="2103120"/>
            <a:ext cx="1755648" cy="274320"/>
          </a:xfrm>
          <a:prstGeom prst="roundRect">
            <a:avLst>
              <a:gd name="adj" fmla="val 20000"/>
            </a:avLst>
          </a:prstGeom>
          <a:solidFill>
            <a:srgbClr val="F3F7F3"/>
          </a:solidFill>
          <a:ln w="6350">
            <a:solidFill>
              <a:srgbClr val="2F6F43"/>
            </a:solidFill>
            <a:prstDash val="solid"/>
          </a:ln>
        </p:spPr>
      </p:sp>
      <p:sp>
        <p:nvSpPr>
          <p:cNvPr id="7" name="Text 5"/>
          <p:cNvSpPr/>
          <p:nvPr/>
        </p:nvSpPr>
        <p:spPr>
          <a:xfrm>
            <a:off x="960120" y="2103120"/>
            <a:ext cx="1755648" cy="274320"/>
          </a:xfrm>
          <a:prstGeom prst="rect">
            <a:avLst/>
          </a:prstGeom>
          <a:noFill/>
          <a:ln/>
        </p:spPr>
        <p:txBody>
          <a:bodyPr wrap="square" lIns="0" tIns="0" rIns="0" bIns="0" rtlCol="0" anchor="ctr"/>
          <a:lstStyle/>
          <a:p>
            <a:pPr algn="ctr" indent="0" marL="0">
              <a:buNone/>
            </a:pPr>
            <a:r>
              <a:rPr lang="en-US" sz="850" b="1" dirty="0">
                <a:solidFill>
                  <a:srgbClr val="2F6F43"/>
                </a:solidFill>
                <a:latin typeface="Courier New" pitchFamily="34" charset="0"/>
                <a:ea typeface="Courier New" pitchFamily="34" charset="-122"/>
                <a:cs typeface="Courier New" pitchFamily="34" charset="-120"/>
              </a:rPr>
              <a:t>CYPHER · GRAPH</a:t>
            </a:r>
            <a:endParaRPr lang="en-US" sz="850" dirty="0"/>
          </a:p>
        </p:txBody>
      </p:sp>
      <p:sp>
        <p:nvSpPr>
          <p:cNvPr id="8" name="Text 6"/>
          <p:cNvSpPr/>
          <p:nvPr/>
        </p:nvSpPr>
        <p:spPr>
          <a:xfrm>
            <a:off x="2852928" y="2103120"/>
            <a:ext cx="32918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Compare demand at both doors</a:t>
            </a:r>
            <a:endParaRPr lang="en-US" sz="1250" dirty="0"/>
          </a:p>
        </p:txBody>
      </p:sp>
      <p:sp>
        <p:nvSpPr>
          <p:cNvPr id="9" name="Text 7"/>
          <p:cNvSpPr/>
          <p:nvPr/>
        </p:nvSpPr>
        <p:spPr>
          <a:xfrm>
            <a:off x="960120" y="2432304"/>
            <a:ext cx="5120640" cy="274320"/>
          </a:xfrm>
          <a:prstGeom prst="rect">
            <a:avLst/>
          </a:prstGeom>
          <a:noFill/>
          <a:ln/>
        </p:spPr>
        <p:txBody>
          <a:bodyPr wrap="square" lIns="0" tIns="0" rIns="0" bIns="0" rtlCol="0" anchor="ctr"/>
          <a:lstStyle/>
          <a:p>
            <a:pPr indent="0" marL="0">
              <a:buNone/>
            </a:pPr>
            <a:r>
              <a:rPr lang="en-US" sz="1050" dirty="0">
                <a:solidFill>
                  <a:srgbClr val="2F6F43"/>
                </a:solidFill>
                <a:latin typeface="Courier New" pitchFamily="34" charset="0"/>
                <a:ea typeface="Courier New" pitchFamily="34" charset="-122"/>
                <a:cs typeface="Courier New" pitchFamily="34" charset="-120"/>
              </a:rPr>
              <a:t>▸ Seattle 0.89 Rising · NYC 0.71 Flat</a:t>
            </a:r>
            <a:endParaRPr lang="en-US" sz="1050" dirty="0"/>
          </a:p>
        </p:txBody>
      </p:sp>
      <p:sp>
        <p:nvSpPr>
          <p:cNvPr id="10" name="Text 8"/>
          <p:cNvSpPr/>
          <p:nvPr/>
        </p:nvSpPr>
        <p:spPr>
          <a:xfrm>
            <a:off x="640080" y="3017520"/>
            <a:ext cx="274320" cy="274320"/>
          </a:xfrm>
          <a:prstGeom prst="rect">
            <a:avLst/>
          </a:prstGeom>
          <a:noFill/>
          <a:ln/>
        </p:spPr>
        <p:txBody>
          <a:bodyPr wrap="square" lIns="0" tIns="0" rIns="0" bIns="0" rtlCol="0" anchor="ctr"/>
          <a:lstStyle/>
          <a:p>
            <a:pPr indent="0" marL="0">
              <a:buNone/>
            </a:pPr>
            <a:r>
              <a:rPr lang="en-US" sz="1100" dirty="0">
                <a:solidFill>
                  <a:srgbClr val="8A857C"/>
                </a:solidFill>
                <a:latin typeface="Courier New" pitchFamily="34" charset="0"/>
                <a:ea typeface="Courier New" pitchFamily="34" charset="-122"/>
                <a:cs typeface="Courier New" pitchFamily="34" charset="-120"/>
              </a:rPr>
              <a:t>2</a:t>
            </a:r>
            <a:endParaRPr lang="en-US" sz="1100" dirty="0"/>
          </a:p>
        </p:txBody>
      </p:sp>
      <p:sp>
        <p:nvSpPr>
          <p:cNvPr id="11" name="Shape 9"/>
          <p:cNvSpPr/>
          <p:nvPr/>
        </p:nvSpPr>
        <p:spPr>
          <a:xfrm>
            <a:off x="960120" y="2944368"/>
            <a:ext cx="1755648" cy="274320"/>
          </a:xfrm>
          <a:prstGeom prst="roundRect">
            <a:avLst>
              <a:gd name="adj" fmla="val 20000"/>
            </a:avLst>
          </a:prstGeom>
          <a:solidFill>
            <a:srgbClr val="EEF3F9"/>
          </a:solidFill>
          <a:ln w="6350">
            <a:solidFill>
              <a:srgbClr val="3A6EA0"/>
            </a:solidFill>
            <a:prstDash val="solid"/>
          </a:ln>
        </p:spPr>
      </p:sp>
      <p:sp>
        <p:nvSpPr>
          <p:cNvPr id="12" name="Text 10"/>
          <p:cNvSpPr/>
          <p:nvPr/>
        </p:nvSpPr>
        <p:spPr>
          <a:xfrm>
            <a:off x="960120" y="2944368"/>
            <a:ext cx="1755648" cy="274320"/>
          </a:xfrm>
          <a:prstGeom prst="rect">
            <a:avLst/>
          </a:prstGeom>
          <a:noFill/>
          <a:ln/>
        </p:spPr>
        <p:txBody>
          <a:bodyPr wrap="square" lIns="0" tIns="0" rIns="0" bIns="0" rtlCol="0" anchor="ctr"/>
          <a:lstStyle/>
          <a:p>
            <a:pPr algn="ctr" indent="0" marL="0">
              <a:buNone/>
            </a:pPr>
            <a:r>
              <a:rPr lang="en-US" sz="850" b="1" dirty="0">
                <a:solidFill>
                  <a:srgbClr val="3A6EA0"/>
                </a:solidFill>
                <a:latin typeface="Courier New" pitchFamily="34" charset="0"/>
                <a:ea typeface="Courier New" pitchFamily="34" charset="-122"/>
                <a:cs typeface="Courier New" pitchFamily="34" charset="-120"/>
              </a:rPr>
              <a:t>SQL · SNOWFLAKE</a:t>
            </a:r>
            <a:endParaRPr lang="en-US" sz="850" dirty="0"/>
          </a:p>
        </p:txBody>
      </p:sp>
      <p:sp>
        <p:nvSpPr>
          <p:cNvPr id="13" name="Text 11"/>
          <p:cNvSpPr/>
          <p:nvPr/>
        </p:nvSpPr>
        <p:spPr>
          <a:xfrm>
            <a:off x="2852928" y="2944368"/>
            <a:ext cx="32918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Quantify units in the warehouse</a:t>
            </a:r>
            <a:endParaRPr lang="en-US" sz="1250" dirty="0"/>
          </a:p>
        </p:txBody>
      </p:sp>
      <p:sp>
        <p:nvSpPr>
          <p:cNvPr id="14" name="Text 12"/>
          <p:cNvSpPr/>
          <p:nvPr/>
        </p:nvSpPr>
        <p:spPr>
          <a:xfrm>
            <a:off x="960120" y="3273552"/>
            <a:ext cx="5120640" cy="274320"/>
          </a:xfrm>
          <a:prstGeom prst="rect">
            <a:avLst/>
          </a:prstGeom>
          <a:noFill/>
          <a:ln/>
        </p:spPr>
        <p:txBody>
          <a:bodyPr wrap="square" lIns="0" tIns="0" rIns="0" bIns="0" rtlCol="0" anchor="ctr"/>
          <a:lstStyle/>
          <a:p>
            <a:pPr indent="0" marL="0">
              <a:buNone/>
            </a:pPr>
            <a:r>
              <a:rPr lang="en-US" sz="1050" dirty="0">
                <a:solidFill>
                  <a:srgbClr val="2F6F43"/>
                </a:solidFill>
                <a:latin typeface="Courier New" pitchFamily="34" charset="0"/>
                <a:ea typeface="Courier New" pitchFamily="34" charset="-122"/>
                <a:cs typeface="Courier New" pitchFamily="34" charset="-120"/>
              </a:rPr>
              <a:t>▸ 1,240 vs 610 units this week</a:t>
            </a:r>
            <a:endParaRPr lang="en-US" sz="1050" dirty="0"/>
          </a:p>
        </p:txBody>
      </p:sp>
      <p:sp>
        <p:nvSpPr>
          <p:cNvPr id="15" name="Text 13"/>
          <p:cNvSpPr/>
          <p:nvPr/>
        </p:nvSpPr>
        <p:spPr>
          <a:xfrm>
            <a:off x="640080" y="3858768"/>
            <a:ext cx="274320" cy="274320"/>
          </a:xfrm>
          <a:prstGeom prst="rect">
            <a:avLst/>
          </a:prstGeom>
          <a:noFill/>
          <a:ln/>
        </p:spPr>
        <p:txBody>
          <a:bodyPr wrap="square" lIns="0" tIns="0" rIns="0" bIns="0" rtlCol="0" anchor="ctr"/>
          <a:lstStyle/>
          <a:p>
            <a:pPr indent="0" marL="0">
              <a:buNone/>
            </a:pPr>
            <a:r>
              <a:rPr lang="en-US" sz="1100" dirty="0">
                <a:solidFill>
                  <a:srgbClr val="8A857C"/>
                </a:solidFill>
                <a:latin typeface="Courier New" pitchFamily="34" charset="0"/>
                <a:ea typeface="Courier New" pitchFamily="34" charset="-122"/>
                <a:cs typeface="Courier New" pitchFamily="34" charset="-120"/>
              </a:rPr>
              <a:t>3</a:t>
            </a:r>
            <a:endParaRPr lang="en-US" sz="1100" dirty="0"/>
          </a:p>
        </p:txBody>
      </p:sp>
      <p:sp>
        <p:nvSpPr>
          <p:cNvPr id="16" name="Shape 14"/>
          <p:cNvSpPr/>
          <p:nvPr/>
        </p:nvSpPr>
        <p:spPr>
          <a:xfrm>
            <a:off x="960120" y="3785616"/>
            <a:ext cx="1755648" cy="274320"/>
          </a:xfrm>
          <a:prstGeom prst="roundRect">
            <a:avLst>
              <a:gd name="adj" fmla="val 20000"/>
            </a:avLst>
          </a:prstGeom>
          <a:solidFill>
            <a:srgbClr val="F2EFFA"/>
          </a:solidFill>
          <a:ln w="6350">
            <a:solidFill>
              <a:srgbClr val="6B5AA6"/>
            </a:solidFill>
            <a:prstDash val="solid"/>
          </a:ln>
        </p:spPr>
      </p:sp>
      <p:sp>
        <p:nvSpPr>
          <p:cNvPr id="17" name="Text 15"/>
          <p:cNvSpPr/>
          <p:nvPr/>
        </p:nvSpPr>
        <p:spPr>
          <a:xfrm>
            <a:off x="960120" y="3785616"/>
            <a:ext cx="1755648" cy="274320"/>
          </a:xfrm>
          <a:prstGeom prst="rect">
            <a:avLst/>
          </a:prstGeom>
          <a:noFill/>
          <a:ln/>
        </p:spPr>
        <p:txBody>
          <a:bodyPr wrap="square" lIns="0" tIns="0" rIns="0" bIns="0" rtlCol="0" anchor="ctr"/>
          <a:lstStyle/>
          <a:p>
            <a:pPr algn="ctr" indent="0" marL="0">
              <a:buNone/>
            </a:pPr>
            <a:r>
              <a:rPr lang="en-US" sz="850" b="1" dirty="0">
                <a:solidFill>
                  <a:srgbClr val="6B5AA6"/>
                </a:solidFill>
                <a:latin typeface="Courier New" pitchFamily="34" charset="0"/>
                <a:ea typeface="Courier New" pitchFamily="34" charset="-122"/>
                <a:cs typeface="Courier New" pitchFamily="34" charset="-120"/>
              </a:rPr>
              <a:t>SEMANTIC · KNOWLEDGE</a:t>
            </a:r>
            <a:endParaRPr lang="en-US" sz="850" dirty="0"/>
          </a:p>
        </p:txBody>
      </p:sp>
      <p:sp>
        <p:nvSpPr>
          <p:cNvPr id="18" name="Text 16"/>
          <p:cNvSpPr/>
          <p:nvPr/>
        </p:nvSpPr>
        <p:spPr>
          <a:xfrm>
            <a:off x="2852928" y="3785616"/>
            <a:ext cx="32918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Retrieve what’s driving interest</a:t>
            </a:r>
            <a:endParaRPr lang="en-US" sz="1250" dirty="0"/>
          </a:p>
        </p:txBody>
      </p:sp>
      <p:sp>
        <p:nvSpPr>
          <p:cNvPr id="19" name="Text 17"/>
          <p:cNvSpPr/>
          <p:nvPr/>
        </p:nvSpPr>
        <p:spPr>
          <a:xfrm>
            <a:off x="960120" y="4114800"/>
            <a:ext cx="5120640" cy="274320"/>
          </a:xfrm>
          <a:prstGeom prst="rect">
            <a:avLst/>
          </a:prstGeom>
          <a:noFill/>
          <a:ln/>
        </p:spPr>
        <p:txBody>
          <a:bodyPr wrap="square" lIns="0" tIns="0" rIns="0" bIns="0" rtlCol="0" anchor="ctr"/>
          <a:lstStyle/>
          <a:p>
            <a:pPr indent="0" marL="0">
              <a:buNone/>
            </a:pPr>
            <a:r>
              <a:rPr lang="en-US" sz="1050" dirty="0">
                <a:solidFill>
                  <a:srgbClr val="2F6F43"/>
                </a:solidFill>
                <a:latin typeface="Courier New" pitchFamily="34" charset="0"/>
                <a:ea typeface="Courier New" pitchFamily="34" charset="-122"/>
                <a:cs typeface="Courier New" pitchFamily="34" charset="-120"/>
              </a:rPr>
              <a:t>▸ “World Cup — USMNT advances” (0.93)</a:t>
            </a:r>
            <a:endParaRPr lang="en-US" sz="1050" dirty="0"/>
          </a:p>
        </p:txBody>
      </p:sp>
      <p:sp>
        <p:nvSpPr>
          <p:cNvPr id="20" name="Text 18"/>
          <p:cNvSpPr/>
          <p:nvPr/>
        </p:nvSpPr>
        <p:spPr>
          <a:xfrm>
            <a:off x="640080" y="4700016"/>
            <a:ext cx="274320" cy="274320"/>
          </a:xfrm>
          <a:prstGeom prst="rect">
            <a:avLst/>
          </a:prstGeom>
          <a:noFill/>
          <a:ln/>
        </p:spPr>
        <p:txBody>
          <a:bodyPr wrap="square" lIns="0" tIns="0" rIns="0" bIns="0" rtlCol="0" anchor="ctr"/>
          <a:lstStyle/>
          <a:p>
            <a:pPr indent="0" marL="0">
              <a:buNone/>
            </a:pPr>
            <a:r>
              <a:rPr lang="en-US" sz="1100" dirty="0">
                <a:solidFill>
                  <a:srgbClr val="8A857C"/>
                </a:solidFill>
                <a:latin typeface="Courier New" pitchFamily="34" charset="0"/>
                <a:ea typeface="Courier New" pitchFamily="34" charset="-122"/>
                <a:cs typeface="Courier New" pitchFamily="34" charset="-120"/>
              </a:rPr>
              <a:t>4</a:t>
            </a:r>
            <a:endParaRPr lang="en-US" sz="1100" dirty="0"/>
          </a:p>
        </p:txBody>
      </p:sp>
      <p:sp>
        <p:nvSpPr>
          <p:cNvPr id="21" name="Shape 19"/>
          <p:cNvSpPr/>
          <p:nvPr/>
        </p:nvSpPr>
        <p:spPr>
          <a:xfrm>
            <a:off x="960120" y="4626864"/>
            <a:ext cx="1755648" cy="274320"/>
          </a:xfrm>
          <a:prstGeom prst="roundRect">
            <a:avLst>
              <a:gd name="adj" fmla="val 20000"/>
            </a:avLst>
          </a:prstGeom>
          <a:solidFill>
            <a:srgbClr val="F3F7F3"/>
          </a:solidFill>
          <a:ln w="6350">
            <a:solidFill>
              <a:srgbClr val="2F6F43"/>
            </a:solidFill>
            <a:prstDash val="solid"/>
          </a:ln>
        </p:spPr>
      </p:sp>
      <p:sp>
        <p:nvSpPr>
          <p:cNvPr id="22" name="Text 20"/>
          <p:cNvSpPr/>
          <p:nvPr/>
        </p:nvSpPr>
        <p:spPr>
          <a:xfrm>
            <a:off x="960120" y="4626864"/>
            <a:ext cx="1755648" cy="274320"/>
          </a:xfrm>
          <a:prstGeom prst="rect">
            <a:avLst/>
          </a:prstGeom>
          <a:noFill/>
          <a:ln/>
        </p:spPr>
        <p:txBody>
          <a:bodyPr wrap="square" lIns="0" tIns="0" rIns="0" bIns="0" rtlCol="0" anchor="ctr"/>
          <a:lstStyle/>
          <a:p>
            <a:pPr algn="ctr" indent="0" marL="0">
              <a:buNone/>
            </a:pPr>
            <a:r>
              <a:rPr lang="en-US" sz="850" b="1" dirty="0">
                <a:solidFill>
                  <a:srgbClr val="2F6F43"/>
                </a:solidFill>
                <a:latin typeface="Courier New" pitchFamily="34" charset="0"/>
                <a:ea typeface="Courier New" pitchFamily="34" charset="-122"/>
                <a:cs typeface="Courier New" pitchFamily="34" charset="-120"/>
              </a:rPr>
              <a:t>CYPHER · GRAPH</a:t>
            </a:r>
            <a:endParaRPr lang="en-US" sz="850" dirty="0"/>
          </a:p>
        </p:txBody>
      </p:sp>
      <p:sp>
        <p:nvSpPr>
          <p:cNvPr id="23" name="Text 21"/>
          <p:cNvSpPr/>
          <p:nvPr/>
        </p:nvSpPr>
        <p:spPr>
          <a:xfrm>
            <a:off x="2852928" y="4626864"/>
            <a:ext cx="32918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Attribute paid media by geo</a:t>
            </a:r>
            <a:endParaRPr lang="en-US" sz="1250" dirty="0"/>
          </a:p>
        </p:txBody>
      </p:sp>
      <p:sp>
        <p:nvSpPr>
          <p:cNvPr id="24" name="Text 22"/>
          <p:cNvSpPr/>
          <p:nvPr/>
        </p:nvSpPr>
        <p:spPr>
          <a:xfrm>
            <a:off x="960120" y="4956048"/>
            <a:ext cx="5120640" cy="274320"/>
          </a:xfrm>
          <a:prstGeom prst="rect">
            <a:avLst/>
          </a:prstGeom>
          <a:noFill/>
          <a:ln/>
        </p:spPr>
        <p:txBody>
          <a:bodyPr wrap="square" lIns="0" tIns="0" rIns="0" bIns="0" rtlCol="0" anchor="ctr"/>
          <a:lstStyle/>
          <a:p>
            <a:pPr indent="0" marL="0">
              <a:buNone/>
            </a:pPr>
            <a:r>
              <a:rPr lang="en-US" sz="1050" dirty="0">
                <a:solidFill>
                  <a:srgbClr val="2F6F43"/>
                </a:solidFill>
                <a:latin typeface="Courier New" pitchFamily="34" charset="0"/>
                <a:ea typeface="Courier New" pitchFamily="34" charset="-122"/>
                <a:cs typeface="Courier New" pitchFamily="34" charset="-120"/>
              </a:rPr>
              <a:t>▸ $48K Pacific NW vs $6K Northeast</a:t>
            </a:r>
            <a:endParaRPr lang="en-US" sz="1050" dirty="0"/>
          </a:p>
        </p:txBody>
      </p:sp>
      <p:sp>
        <p:nvSpPr>
          <p:cNvPr id="25" name="Text 23"/>
          <p:cNvSpPr/>
          <p:nvPr/>
        </p:nvSpPr>
        <p:spPr>
          <a:xfrm>
            <a:off x="640080" y="5541264"/>
            <a:ext cx="274320" cy="274320"/>
          </a:xfrm>
          <a:prstGeom prst="rect">
            <a:avLst/>
          </a:prstGeom>
          <a:noFill/>
          <a:ln/>
        </p:spPr>
        <p:txBody>
          <a:bodyPr wrap="square" lIns="0" tIns="0" rIns="0" bIns="0" rtlCol="0" anchor="ctr"/>
          <a:lstStyle/>
          <a:p>
            <a:pPr indent="0" marL="0">
              <a:buNone/>
            </a:pPr>
            <a:r>
              <a:rPr lang="en-US" sz="1100" dirty="0">
                <a:solidFill>
                  <a:srgbClr val="8A857C"/>
                </a:solidFill>
                <a:latin typeface="Courier New" pitchFamily="34" charset="0"/>
                <a:ea typeface="Courier New" pitchFamily="34" charset="-122"/>
                <a:cs typeface="Courier New" pitchFamily="34" charset="-120"/>
              </a:rPr>
              <a:t>5</a:t>
            </a:r>
            <a:endParaRPr lang="en-US" sz="1100" dirty="0"/>
          </a:p>
        </p:txBody>
      </p:sp>
      <p:sp>
        <p:nvSpPr>
          <p:cNvPr id="26" name="Shape 24"/>
          <p:cNvSpPr/>
          <p:nvPr/>
        </p:nvSpPr>
        <p:spPr>
          <a:xfrm>
            <a:off x="960120" y="5468112"/>
            <a:ext cx="1755648" cy="274320"/>
          </a:xfrm>
          <a:prstGeom prst="roundRect">
            <a:avLst>
              <a:gd name="adj" fmla="val 20000"/>
            </a:avLst>
          </a:prstGeom>
          <a:solidFill>
            <a:srgbClr val="F3F7F3"/>
          </a:solidFill>
          <a:ln w="6350">
            <a:solidFill>
              <a:srgbClr val="2F6F43"/>
            </a:solidFill>
            <a:prstDash val="solid"/>
          </a:ln>
        </p:spPr>
      </p:sp>
      <p:sp>
        <p:nvSpPr>
          <p:cNvPr id="27" name="Text 25"/>
          <p:cNvSpPr/>
          <p:nvPr/>
        </p:nvSpPr>
        <p:spPr>
          <a:xfrm>
            <a:off x="960120" y="5468112"/>
            <a:ext cx="1755648" cy="274320"/>
          </a:xfrm>
          <a:prstGeom prst="rect">
            <a:avLst/>
          </a:prstGeom>
          <a:noFill/>
          <a:ln/>
        </p:spPr>
        <p:txBody>
          <a:bodyPr wrap="square" lIns="0" tIns="0" rIns="0" bIns="0" rtlCol="0" anchor="ctr"/>
          <a:lstStyle/>
          <a:p>
            <a:pPr algn="ctr" indent="0" marL="0">
              <a:buNone/>
            </a:pPr>
            <a:r>
              <a:rPr lang="en-US" sz="850" b="1" dirty="0">
                <a:solidFill>
                  <a:srgbClr val="2F6F43"/>
                </a:solidFill>
                <a:latin typeface="Courier New" pitchFamily="34" charset="0"/>
                <a:ea typeface="Courier New" pitchFamily="34" charset="-122"/>
                <a:cs typeface="Courier New" pitchFamily="34" charset="-120"/>
              </a:rPr>
              <a:t>CYPHER · GRAPH</a:t>
            </a:r>
            <a:endParaRPr lang="en-US" sz="850" dirty="0"/>
          </a:p>
        </p:txBody>
      </p:sp>
      <p:sp>
        <p:nvSpPr>
          <p:cNvPr id="28" name="Text 26"/>
          <p:cNvSpPr/>
          <p:nvPr/>
        </p:nvSpPr>
        <p:spPr>
          <a:xfrm>
            <a:off x="2852928" y="5468112"/>
            <a:ext cx="3291840" cy="29260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Check supply &amp; inbound cover</a:t>
            </a:r>
            <a:endParaRPr lang="en-US" sz="1250" dirty="0"/>
          </a:p>
        </p:txBody>
      </p:sp>
      <p:sp>
        <p:nvSpPr>
          <p:cNvPr id="29" name="Text 27"/>
          <p:cNvSpPr/>
          <p:nvPr/>
        </p:nvSpPr>
        <p:spPr>
          <a:xfrm>
            <a:off x="960120" y="5797296"/>
            <a:ext cx="5120640" cy="274320"/>
          </a:xfrm>
          <a:prstGeom prst="rect">
            <a:avLst/>
          </a:prstGeom>
          <a:noFill/>
          <a:ln/>
        </p:spPr>
        <p:txBody>
          <a:bodyPr wrap="square" lIns="0" tIns="0" rIns="0" bIns="0" rtlCol="0" anchor="ctr"/>
          <a:lstStyle/>
          <a:p>
            <a:pPr indent="0" marL="0">
              <a:buNone/>
            </a:pPr>
            <a:r>
              <a:rPr lang="en-US" sz="1050" dirty="0">
                <a:solidFill>
                  <a:srgbClr val="2F6F43"/>
                </a:solidFill>
                <a:latin typeface="Courier New" pitchFamily="34" charset="0"/>
                <a:ea typeface="Courier New" pitchFamily="34" charset="-122"/>
                <a:cs typeface="Courier New" pitchFamily="34" charset="-120"/>
              </a:rPr>
              <a:t>▸ NYC 1.2 wks · ETA 3d — Seattle 5.4 wks</a:t>
            </a:r>
            <a:endParaRPr lang="en-US" sz="1050" dirty="0"/>
          </a:p>
        </p:txBody>
      </p:sp>
      <p:pic>
        <p:nvPicPr>
          <p:cNvPr id="30" name="Image 0" descr="/private/tmp/claude-501/-Users-rohanvijay-New-Navigation/51738f4d-614f-49e0-8dfa-729e8c75bcb4/scratchpad/crop-trace.png">    </p:cNvPr>
          <p:cNvPicPr>
            <a:picLocks noChangeAspect="1"/>
          </p:cNvPicPr>
          <p:nvPr/>
        </p:nvPicPr>
        <p:blipFill>
          <a:blip r:embed="rId1"/>
          <a:stretch>
            <a:fillRect/>
          </a:stretch>
        </p:blipFill>
        <p:spPr>
          <a:xfrm>
            <a:off x="6720840" y="1298448"/>
            <a:ext cx="4828032" cy="49926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B8923A"/>
                </a:solidFill>
                <a:latin typeface="Courier New" pitchFamily="34" charset="0"/>
                <a:ea typeface="Courier New" pitchFamily="34" charset="-122"/>
                <a:cs typeface="Courier New" pitchFamily="34" charset="-120"/>
              </a:rPr>
              <a:t>05 · DEEP DIVE — THE ANSWER</a:t>
            </a:r>
            <a:endParaRPr lang="en-US" sz="1100" dirty="0"/>
          </a:p>
        </p:txBody>
      </p:sp>
      <p:sp>
        <p:nvSpPr>
          <p:cNvPr id="3" name="Text 1"/>
          <p:cNvSpPr/>
          <p:nvPr/>
        </p:nvSpPr>
        <p:spPr>
          <a:xfrm>
            <a:off x="640080" y="804672"/>
            <a:ext cx="10972800" cy="1042416"/>
          </a:xfrm>
          <a:prstGeom prst="rect">
            <a:avLst/>
          </a:prstGeom>
          <a:noFill/>
          <a:ln/>
        </p:spPr>
        <p:txBody>
          <a:bodyPr wrap="square" lIns="0" tIns="0" rIns="0" bIns="0" rtlCol="0" anchor="ctr"/>
          <a:lstStyle/>
          <a:p>
            <a:pPr indent="0" marL="0">
              <a:lnSpc>
                <a:spcPts val="3000"/>
              </a:lnSpc>
              <a:buNone/>
            </a:pPr>
            <a:r>
              <a:rPr lang="en-US" sz="2300" dirty="0">
                <a:solidFill>
                  <a:srgbClr val="16341F"/>
                </a:solidFill>
                <a:latin typeface="Spectral" pitchFamily="34" charset="0"/>
                <a:ea typeface="Spectral" pitchFamily="34" charset="-122"/>
                <a:cs typeface="Spectral" pitchFamily="34" charset="-120"/>
              </a:rPr>
              <a:t>Seattle’s lead is real demand amplified by media. New York isn’t lower demand — it’s supply-constrained.</a:t>
            </a:r>
            <a:endParaRPr lang="en-US" sz="2300" dirty="0"/>
          </a:p>
        </p:txBody>
      </p:sp>
      <p:sp>
        <p:nvSpPr>
          <p:cNvPr id="4" name="Shape 2"/>
          <p:cNvSpPr/>
          <p:nvPr/>
        </p:nvSpPr>
        <p:spPr>
          <a:xfrm>
            <a:off x="640080" y="2103120"/>
            <a:ext cx="2788920" cy="1965960"/>
          </a:xfrm>
          <a:prstGeom prst="roundRect">
            <a:avLst>
              <a:gd name="adj" fmla="val 4186"/>
            </a:avLst>
          </a:prstGeom>
          <a:solidFill>
            <a:srgbClr val="F7F5F0"/>
          </a:solidFill>
          <a:ln w="9525">
            <a:solidFill>
              <a:srgbClr val="E7E3DA"/>
            </a:solidFill>
            <a:prstDash val="solid"/>
          </a:ln>
        </p:spPr>
      </p:sp>
      <p:sp>
        <p:nvSpPr>
          <p:cNvPr id="5" name="Text 3"/>
          <p:cNvSpPr/>
          <p:nvPr/>
        </p:nvSpPr>
        <p:spPr>
          <a:xfrm>
            <a:off x="877824" y="2286000"/>
            <a:ext cx="2286000" cy="566928"/>
          </a:xfrm>
          <a:prstGeom prst="rect">
            <a:avLst/>
          </a:prstGeom>
          <a:noFill/>
          <a:ln/>
        </p:spPr>
        <p:txBody>
          <a:bodyPr wrap="square" lIns="0" tIns="0" rIns="0" bIns="0" rtlCol="0" anchor="ctr"/>
          <a:lstStyle/>
          <a:p>
            <a:pPr indent="0" marL="0">
              <a:buNone/>
            </a:pPr>
            <a:r>
              <a:rPr lang="en-US" sz="3300" dirty="0">
                <a:solidFill>
                  <a:srgbClr val="2F6F43"/>
                </a:solidFill>
                <a:latin typeface="Spectral" pitchFamily="34" charset="0"/>
                <a:ea typeface="Spectral" pitchFamily="34" charset="-122"/>
                <a:cs typeface="Spectral" pitchFamily="34" charset="-120"/>
              </a:rPr>
              <a:t>~60%</a:t>
            </a:r>
            <a:endParaRPr lang="en-US" sz="3300" dirty="0"/>
          </a:p>
        </p:txBody>
      </p:sp>
      <p:sp>
        <p:nvSpPr>
          <p:cNvPr id="6" name="Text 4"/>
          <p:cNvSpPr/>
          <p:nvPr/>
        </p:nvSpPr>
        <p:spPr>
          <a:xfrm>
            <a:off x="877824" y="2907792"/>
            <a:ext cx="2377440" cy="292608"/>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of the gap is media allocation</a:t>
            </a:r>
            <a:endParaRPr lang="en-US" sz="1200" dirty="0"/>
          </a:p>
        </p:txBody>
      </p:sp>
      <p:sp>
        <p:nvSpPr>
          <p:cNvPr id="7" name="Text 5"/>
          <p:cNvSpPr/>
          <p:nvPr/>
        </p:nvSpPr>
        <p:spPr>
          <a:xfrm>
            <a:off x="877824" y="3227832"/>
            <a:ext cx="2359152" cy="749808"/>
          </a:xfrm>
          <a:prstGeom prst="rect">
            <a:avLst/>
          </a:prstGeom>
          <a:noFill/>
          <a:ln/>
        </p:spPr>
        <p:txBody>
          <a:bodyPr wrap="square" lIns="0" tIns="0" rIns="0" bIns="0" rtlCol="0" anchor="ctr"/>
          <a:lstStyle/>
          <a:p>
            <a:pPr indent="0" marL="0">
              <a:lnSpc>
                <a:spcPts val="1450"/>
              </a:lnSpc>
              <a:buNone/>
            </a:pPr>
            <a:r>
              <a:rPr lang="en-US" sz="1100" dirty="0">
                <a:solidFill>
                  <a:srgbClr val="5B5547"/>
                </a:solidFill>
                <a:latin typeface="Arial" pitchFamily="34" charset="0"/>
                <a:ea typeface="Arial" pitchFamily="34" charset="-122"/>
                <a:cs typeface="Arial" pitchFamily="34" charset="-120"/>
              </a:rPr>
              <a:t>$48K of paid spend in the Pacific NW vs $6K in the Northeast — an 8× skew.</a:t>
            </a:r>
            <a:endParaRPr lang="en-US" sz="1100" dirty="0"/>
          </a:p>
        </p:txBody>
      </p:sp>
      <p:sp>
        <p:nvSpPr>
          <p:cNvPr id="8" name="Shape 6"/>
          <p:cNvSpPr/>
          <p:nvPr/>
        </p:nvSpPr>
        <p:spPr>
          <a:xfrm>
            <a:off x="3657600" y="2103120"/>
            <a:ext cx="2788920" cy="1965960"/>
          </a:xfrm>
          <a:prstGeom prst="roundRect">
            <a:avLst>
              <a:gd name="adj" fmla="val 4186"/>
            </a:avLst>
          </a:prstGeom>
          <a:solidFill>
            <a:srgbClr val="F7F5F0"/>
          </a:solidFill>
          <a:ln w="9525">
            <a:solidFill>
              <a:srgbClr val="E7E3DA"/>
            </a:solidFill>
            <a:prstDash val="solid"/>
          </a:ln>
        </p:spPr>
      </p:sp>
      <p:sp>
        <p:nvSpPr>
          <p:cNvPr id="9" name="Text 7"/>
          <p:cNvSpPr/>
          <p:nvPr/>
        </p:nvSpPr>
        <p:spPr>
          <a:xfrm>
            <a:off x="3895344" y="2286000"/>
            <a:ext cx="2286000" cy="566928"/>
          </a:xfrm>
          <a:prstGeom prst="rect">
            <a:avLst/>
          </a:prstGeom>
          <a:noFill/>
          <a:ln/>
        </p:spPr>
        <p:txBody>
          <a:bodyPr wrap="square" lIns="0" tIns="0" rIns="0" bIns="0" rtlCol="0" anchor="ctr"/>
          <a:lstStyle/>
          <a:p>
            <a:pPr indent="0" marL="0">
              <a:buNone/>
            </a:pPr>
            <a:r>
              <a:rPr lang="en-US" sz="3300" dirty="0">
                <a:solidFill>
                  <a:srgbClr val="2F6F43"/>
                </a:solidFill>
                <a:latin typeface="Spectral" pitchFamily="34" charset="0"/>
                <a:ea typeface="Spectral" pitchFamily="34" charset="-122"/>
                <a:cs typeface="Spectral" pitchFamily="34" charset="-120"/>
              </a:rPr>
              <a:t>~40%</a:t>
            </a:r>
            <a:endParaRPr lang="en-US" sz="3300" dirty="0"/>
          </a:p>
        </p:txBody>
      </p:sp>
      <p:sp>
        <p:nvSpPr>
          <p:cNvPr id="10" name="Text 8"/>
          <p:cNvSpPr/>
          <p:nvPr/>
        </p:nvSpPr>
        <p:spPr>
          <a:xfrm>
            <a:off x="3895344" y="2907792"/>
            <a:ext cx="2377440" cy="292608"/>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is a New York stockout</a:t>
            </a:r>
            <a:endParaRPr lang="en-US" sz="1200" dirty="0"/>
          </a:p>
        </p:txBody>
      </p:sp>
      <p:sp>
        <p:nvSpPr>
          <p:cNvPr id="11" name="Text 9"/>
          <p:cNvSpPr/>
          <p:nvPr/>
        </p:nvSpPr>
        <p:spPr>
          <a:xfrm>
            <a:off x="3895344" y="3227832"/>
            <a:ext cx="2359152" cy="749808"/>
          </a:xfrm>
          <a:prstGeom prst="rect">
            <a:avLst/>
          </a:prstGeom>
          <a:noFill/>
          <a:ln/>
        </p:spPr>
        <p:txBody>
          <a:bodyPr wrap="square" lIns="0" tIns="0" rIns="0" bIns="0" rtlCol="0" anchor="ctr"/>
          <a:lstStyle/>
          <a:p>
            <a:pPr indent="0" marL="0">
              <a:lnSpc>
                <a:spcPts val="1450"/>
              </a:lnSpc>
              <a:buNone/>
            </a:pPr>
            <a:r>
              <a:rPr lang="en-US" sz="1100" dirty="0">
                <a:solidFill>
                  <a:srgbClr val="5B5547"/>
                </a:solidFill>
                <a:latin typeface="Arial" pitchFamily="34" charset="0"/>
                <a:ea typeface="Arial" pitchFamily="34" charset="-122"/>
                <a:cs typeface="Arial" pitchFamily="34" charset="-120"/>
              </a:rPr>
              <a:t>1.2 weeks of supply at Nike NYC, replenishment SH-5540 still 3 days out.</a:t>
            </a:r>
            <a:endParaRPr lang="en-US" sz="1100" dirty="0"/>
          </a:p>
        </p:txBody>
      </p:sp>
      <p:sp>
        <p:nvSpPr>
          <p:cNvPr id="12" name="Shape 10"/>
          <p:cNvSpPr/>
          <p:nvPr/>
        </p:nvSpPr>
        <p:spPr>
          <a:xfrm>
            <a:off x="6720840" y="2103120"/>
            <a:ext cx="4828032" cy="1965960"/>
          </a:xfrm>
          <a:prstGeom prst="roundRect">
            <a:avLst>
              <a:gd name="adj" fmla="val 4186"/>
            </a:avLst>
          </a:prstGeom>
          <a:solidFill>
            <a:srgbClr val="F5EEDF"/>
          </a:solidFill>
          <a:ln w="9525">
            <a:solidFill>
              <a:srgbClr val="E4D5B0"/>
            </a:solidFill>
            <a:prstDash val="solid"/>
          </a:ln>
        </p:spPr>
      </p:sp>
      <p:sp>
        <p:nvSpPr>
          <p:cNvPr id="13" name="Text 11"/>
          <p:cNvSpPr/>
          <p:nvPr/>
        </p:nvSpPr>
        <p:spPr>
          <a:xfrm>
            <a:off x="7004304" y="2304288"/>
            <a:ext cx="4297680" cy="329184"/>
          </a:xfrm>
          <a:prstGeom prst="rect">
            <a:avLst/>
          </a:prstGeom>
          <a:noFill/>
          <a:ln/>
        </p:spPr>
        <p:txBody>
          <a:bodyPr wrap="square" lIns="0" tIns="0" rIns="0" bIns="0" rtlCol="0" anchor="ctr"/>
          <a:lstStyle/>
          <a:p>
            <a:pPr indent="0" marL="0">
              <a:buNone/>
            </a:pPr>
            <a:r>
              <a:rPr lang="en-US" sz="1550" dirty="0">
                <a:solidFill>
                  <a:srgbClr val="1A1A1A"/>
                </a:solidFill>
                <a:latin typeface="Spectral" pitchFamily="34" charset="0"/>
                <a:ea typeface="Spectral" pitchFamily="34" charset="-122"/>
                <a:cs typeface="Spectral" pitchFamily="34" charset="-120"/>
              </a:rPr>
              <a:t>The tell: purchase intent is intact</a:t>
            </a:r>
            <a:endParaRPr lang="en-US" sz="1550" dirty="0"/>
          </a:p>
        </p:txBody>
      </p:sp>
      <p:sp>
        <p:nvSpPr>
          <p:cNvPr id="14" name="Text 12"/>
          <p:cNvSpPr/>
          <p:nvPr/>
        </p:nvSpPr>
        <p:spPr>
          <a:xfrm>
            <a:off x="7004304" y="2697480"/>
            <a:ext cx="4279392" cy="1188720"/>
          </a:xfrm>
          <a:prstGeom prst="rect">
            <a:avLst/>
          </a:prstGeom>
          <a:noFill/>
          <a:ln/>
        </p:spPr>
        <p:txBody>
          <a:bodyPr wrap="square" lIns="0" tIns="0" rIns="0" bIns="0" rtlCol="0" anchor="ctr"/>
          <a:lstStyle/>
          <a:p>
            <a:pPr indent="0" marL="0">
              <a:lnSpc>
                <a:spcPts val="1700"/>
              </a:lnSpc>
              <a:buNone/>
            </a:pPr>
            <a:r>
              <a:rPr lang="en-US" sz="1200" dirty="0">
                <a:solidFill>
                  <a:srgbClr val="5B5547"/>
                </a:solidFill>
                <a:latin typeface="Arial" pitchFamily="34" charset="0"/>
                <a:ea typeface="Arial" pitchFamily="34" charset="-122"/>
                <a:cs typeface="Arial" pitchFamily="34" charset="-120"/>
              </a:rPr>
              <a:t>NY search index </a:t>
            </a:r>
            <a:pPr indent="0" marL="0">
              <a:lnSpc>
                <a:spcPts val="1700"/>
              </a:lnSpc>
              <a:buNone/>
            </a:pPr>
            <a:r>
              <a:rPr lang="en-US" sz="1200" b="1" dirty="0">
                <a:solidFill>
                  <a:srgbClr val="1A1A1A"/>
                </a:solidFill>
                <a:latin typeface="Arial" pitchFamily="34" charset="0"/>
                <a:ea typeface="Arial" pitchFamily="34" charset="-122"/>
                <a:cs typeface="Arial" pitchFamily="34" charset="-120"/>
              </a:rPr>
              <a:t>132</a:t>
            </a:r>
            <a:pPr indent="0" marL="0">
              <a:lnSpc>
                <a:spcPts val="1700"/>
              </a:lnSpc>
              <a:buNone/>
            </a:pPr>
            <a:r>
              <a:rPr lang="en-US" sz="1200" dirty="0">
                <a:solidFill>
                  <a:srgbClr val="5B5547"/>
                </a:solidFill>
                <a:latin typeface="Arial" pitchFamily="34" charset="0"/>
                <a:ea typeface="Arial" pitchFamily="34" charset="-122"/>
                <a:cs typeface="Arial" pitchFamily="34" charset="-120"/>
              </a:rPr>
              <a:t> vs Seattle’s </a:t>
            </a:r>
            <a:pPr indent="0" marL="0">
              <a:lnSpc>
                <a:spcPts val="1700"/>
              </a:lnSpc>
              <a:buNone/>
            </a:pPr>
            <a:r>
              <a:rPr lang="en-US" sz="1200" b="1" dirty="0">
                <a:solidFill>
                  <a:srgbClr val="1A1A1A"/>
                </a:solidFill>
                <a:latin typeface="Arial" pitchFamily="34" charset="0"/>
                <a:ea typeface="Arial" pitchFamily="34" charset="-122"/>
                <a:cs typeface="Arial" pitchFamily="34" charset="-120"/>
              </a:rPr>
              <a:t>148</a:t>
            </a:r>
            <a:pPr indent="0" marL="0">
              <a:lnSpc>
                <a:spcPts val="1700"/>
              </a:lnSpc>
              <a:buNone/>
            </a:pPr>
            <a:r>
              <a:rPr lang="en-US" sz="1200" dirty="0">
                <a:solidFill>
                  <a:srgbClr val="5B5547"/>
                </a:solidFill>
                <a:latin typeface="Arial" pitchFamily="34" charset="0"/>
                <a:ea typeface="Arial" pitchFamily="34" charset="-122"/>
                <a:cs typeface="Arial" pitchFamily="34" charset="-120"/>
              </a:rPr>
              <a:t> — within striking distance. New York wants the jersey; it can’t buy it, and isn’t being reminded to. A fulfillment gap misread as a demand gap.</a:t>
            </a:r>
            <a:endParaRPr lang="en-US" sz="1200" dirty="0"/>
          </a:p>
        </p:txBody>
      </p:sp>
      <p:sp>
        <p:nvSpPr>
          <p:cNvPr id="15" name="Shape 13"/>
          <p:cNvSpPr/>
          <p:nvPr/>
        </p:nvSpPr>
        <p:spPr>
          <a:xfrm>
            <a:off x="640080" y="4370832"/>
            <a:ext cx="10908792" cy="1225296"/>
          </a:xfrm>
          <a:prstGeom prst="roundRect">
            <a:avLst>
              <a:gd name="adj" fmla="val 6716"/>
            </a:avLst>
          </a:prstGeom>
          <a:solidFill>
            <a:srgbClr val="F3F7F3"/>
          </a:solidFill>
          <a:ln w="12700">
            <a:solidFill>
              <a:srgbClr val="DCE8DC"/>
            </a:solidFill>
            <a:prstDash val="solid"/>
          </a:ln>
        </p:spPr>
      </p:sp>
      <p:sp>
        <p:nvSpPr>
          <p:cNvPr id="16" name="Text 14"/>
          <p:cNvSpPr/>
          <p:nvPr/>
        </p:nvSpPr>
        <p:spPr>
          <a:xfrm>
            <a:off x="914400" y="4553712"/>
            <a:ext cx="10424160" cy="914400"/>
          </a:xfrm>
          <a:prstGeom prst="rect">
            <a:avLst/>
          </a:prstGeom>
          <a:noFill/>
          <a:ln/>
        </p:spPr>
        <p:txBody>
          <a:bodyPr wrap="square" lIns="0" tIns="0" rIns="0" bIns="0" rtlCol="0" anchor="ctr"/>
          <a:lstStyle/>
          <a:p>
            <a:pPr indent="0" marL="0">
              <a:lnSpc>
                <a:spcPts val="1900"/>
              </a:lnSpc>
              <a:buNone/>
            </a:pPr>
            <a:r>
              <a:rPr lang="en-US" sz="1250" b="1" dirty="0">
                <a:solidFill>
                  <a:srgbClr val="16341F"/>
                </a:solidFill>
                <a:latin typeface="Arial" pitchFamily="34" charset="0"/>
                <a:ea typeface="Arial" pitchFamily="34" charset="-122"/>
                <a:cs typeface="Arial" pitchFamily="34" charset="-120"/>
              </a:rPr>
              <a:t>Recommended actions</a:t>
            </a:r>
            <a:endParaRPr lang="en-US" sz="1250" dirty="0"/>
          </a:p>
          <a:p>
            <a:pPr indent="0" marL="0">
              <a:lnSpc>
                <a:spcPts val="1900"/>
              </a:lnSpc>
              <a:buNone/>
            </a:pPr>
            <a:r>
              <a:rPr lang="en-US" sz="1200" dirty="0">
                <a:solidFill>
                  <a:srgbClr val="20492E"/>
                </a:solidFill>
                <a:latin typeface="Arial" pitchFamily="34" charset="0"/>
                <a:ea typeface="Arial" pitchFamily="34" charset="-122"/>
                <a:cs typeface="Arial" pitchFamily="34" charset="-120"/>
              </a:rPr>
              <a:t>1  Expedite SH-5540 into Nike NYC to break the stockout      2  Rebalance ~$15K of Pacific NW spend to the Northeast while the event window is open      3  Hold Seattle — converting cleanly, near diminishing returns</a:t>
            </a:r>
            <a:endParaRPr lang="en-US" sz="1250" dirty="0"/>
          </a:p>
        </p:txBody>
      </p:sp>
      <p:sp>
        <p:nvSpPr>
          <p:cNvPr id="17" name="Text 15"/>
          <p:cNvSpPr/>
          <p:nvPr/>
        </p:nvSpPr>
        <p:spPr>
          <a:xfrm>
            <a:off x="640080" y="5943600"/>
            <a:ext cx="11155680" cy="274320"/>
          </a:xfrm>
          <a:prstGeom prst="rect">
            <a:avLst/>
          </a:prstGeom>
          <a:noFill/>
          <a:ln/>
        </p:spPr>
        <p:txBody>
          <a:bodyPr wrap="square" lIns="0" tIns="0" rIns="0" bIns="0" rtlCol="0" anchor="ctr"/>
          <a:lstStyle/>
          <a:p>
            <a:pPr indent="0" marL="0">
              <a:buNone/>
            </a:pPr>
            <a:r>
              <a:rPr lang="en-US" sz="950" dirty="0">
                <a:solidFill>
                  <a:srgbClr val="8A857C"/>
                </a:solidFill>
                <a:latin typeface="Courier New" pitchFamily="34" charset="0"/>
                <a:ea typeface="Courier New" pitchFamily="34" charset="-122"/>
                <a:cs typeface="Courier New" pitchFamily="34" charset="-120"/>
              </a:rPr>
              <a:t>GROUNDED IN:  [1] SIG-587794 SIGNAL · [2] EV-771 EVENT · [3] AD-9912 SPEND · [4] IP-7781 INVENTORY · [5] SH-5540 REPLENISHMENT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341F"/>
        </a:solidFill>
      </p:bgPr>
    </p:bg>
    <p:spTree>
      <p:nvGrpSpPr>
        <p:cNvPr id="1" name=""/>
        <p:cNvGrpSpPr/>
        <p:nvPr/>
      </p:nvGrpSpPr>
      <p:grpSpPr>
        <a:xfrm>
          <a:off x="0" y="0"/>
          <a:ext cx="0" cy="0"/>
          <a:chOff x="0" y="0"/>
          <a:chExt cx="0" cy="0"/>
        </a:xfrm>
      </p:grpSpPr>
      <p:sp>
        <p:nvSpPr>
          <p:cNvPr id="2" name="Text 0"/>
          <p:cNvSpPr/>
          <p:nvPr/>
        </p:nvSpPr>
        <p:spPr>
          <a:xfrm>
            <a:off x="658368" y="457200"/>
            <a:ext cx="7315200" cy="274320"/>
          </a:xfrm>
          <a:prstGeom prst="rect">
            <a:avLst/>
          </a:prstGeom>
          <a:noFill/>
          <a:ln/>
        </p:spPr>
        <p:txBody>
          <a:bodyPr wrap="square" lIns="0" tIns="0" rIns="0" bIns="0" rtlCol="0" anchor="ctr"/>
          <a:lstStyle/>
          <a:p>
            <a:pPr indent="0" marL="0">
              <a:buNone/>
            </a:pPr>
            <a:r>
              <a:rPr lang="en-US" sz="1100" b="1" spc="200" kern="0" dirty="0">
                <a:solidFill>
                  <a:srgbClr val="B8923A"/>
                </a:solidFill>
                <a:latin typeface="Courier New" pitchFamily="34" charset="0"/>
                <a:ea typeface="Courier New" pitchFamily="34" charset="-122"/>
                <a:cs typeface="Courier New" pitchFamily="34" charset="-120"/>
              </a:rPr>
              <a:t>06 · LIVE PROTOTYPE</a:t>
            </a:r>
            <a:endParaRPr lang="en-US" sz="1100" dirty="0"/>
          </a:p>
        </p:txBody>
      </p:sp>
      <p:sp>
        <p:nvSpPr>
          <p:cNvPr id="3" name="Text 1"/>
          <p:cNvSpPr/>
          <p:nvPr/>
        </p:nvSpPr>
        <p:spPr>
          <a:xfrm>
            <a:off x="640080" y="786384"/>
            <a:ext cx="5486400" cy="658368"/>
          </a:xfrm>
          <a:prstGeom prst="rect">
            <a:avLst/>
          </a:prstGeom>
          <a:noFill/>
          <a:ln/>
        </p:spPr>
        <p:txBody>
          <a:bodyPr wrap="square" lIns="0" tIns="0" rIns="0" bIns="0" rtlCol="0" anchor="ctr"/>
          <a:lstStyle/>
          <a:p>
            <a:pPr indent="0" marL="0">
              <a:buNone/>
            </a:pPr>
            <a:r>
              <a:rPr lang="en-US" sz="3200" dirty="0">
                <a:solidFill>
                  <a:srgbClr val="FEFDFB"/>
                </a:solidFill>
                <a:latin typeface="Spectral" pitchFamily="34" charset="0"/>
                <a:ea typeface="Spectral" pitchFamily="34" charset="-122"/>
                <a:cs typeface="Spectral" pitchFamily="34" charset="-120"/>
              </a:rPr>
              <a:t>Let’s ask it live</a:t>
            </a:r>
            <a:endParaRPr lang="en-US" sz="3200" dirty="0"/>
          </a:p>
        </p:txBody>
      </p:sp>
      <p:sp>
        <p:nvSpPr>
          <p:cNvPr id="4" name="Shape 2"/>
          <p:cNvSpPr/>
          <p:nvPr/>
        </p:nvSpPr>
        <p:spPr>
          <a:xfrm>
            <a:off x="658368" y="1828800"/>
            <a:ext cx="402336" cy="402336"/>
          </a:xfrm>
          <a:prstGeom prst="ellipse">
            <a:avLst/>
          </a:prstGeom>
          <a:solidFill>
            <a:srgbClr val="234A2F"/>
          </a:solidFill>
          <a:ln w="9525">
            <a:solidFill>
              <a:srgbClr val="4E7A5C"/>
            </a:solidFill>
            <a:prstDash val="solid"/>
          </a:ln>
        </p:spPr>
      </p:sp>
      <p:sp>
        <p:nvSpPr>
          <p:cNvPr id="5" name="Text 3"/>
          <p:cNvSpPr/>
          <p:nvPr/>
        </p:nvSpPr>
        <p:spPr>
          <a:xfrm>
            <a:off x="658368" y="1828800"/>
            <a:ext cx="402336" cy="402336"/>
          </a:xfrm>
          <a:prstGeom prst="rect">
            <a:avLst/>
          </a:prstGeom>
          <a:noFill/>
          <a:ln/>
        </p:spPr>
        <p:txBody>
          <a:bodyPr wrap="square" lIns="0" tIns="0" rIns="0" bIns="0" rtlCol="0" anchor="ctr"/>
          <a:lstStyle/>
          <a:p>
            <a:pPr algn="ctr" indent="0" marL="0">
              <a:buNone/>
            </a:pPr>
            <a:r>
              <a:rPr lang="en-US" sz="1200" b="1" dirty="0">
                <a:solidFill>
                  <a:srgbClr val="FEFDFB"/>
                </a:solidFill>
                <a:latin typeface="Courier New" pitchFamily="34" charset="0"/>
                <a:ea typeface="Courier New" pitchFamily="34" charset="-122"/>
                <a:cs typeface="Courier New" pitchFamily="34" charset="-120"/>
              </a:rPr>
              <a:t>1</a:t>
            </a:r>
            <a:endParaRPr lang="en-US" sz="1200" dirty="0"/>
          </a:p>
        </p:txBody>
      </p:sp>
      <p:sp>
        <p:nvSpPr>
          <p:cNvPr id="6" name="Text 4"/>
          <p:cNvSpPr/>
          <p:nvPr/>
        </p:nvSpPr>
        <p:spPr>
          <a:xfrm>
            <a:off x="1243584" y="1810512"/>
            <a:ext cx="4023360" cy="310896"/>
          </a:xfrm>
          <a:prstGeom prst="rect">
            <a:avLst/>
          </a:prstGeom>
          <a:noFill/>
          <a:ln/>
        </p:spPr>
        <p:txBody>
          <a:bodyPr wrap="square" lIns="0" tIns="0" rIns="0" bIns="0" rtlCol="0" anchor="ctr"/>
          <a:lstStyle/>
          <a:p>
            <a:pPr indent="0" marL="0">
              <a:buNone/>
            </a:pPr>
            <a:r>
              <a:rPr lang="en-US" sz="1600" dirty="0">
                <a:solidFill>
                  <a:srgbClr val="FEFDFB"/>
                </a:solidFill>
                <a:latin typeface="Spectral" pitchFamily="34" charset="0"/>
                <a:ea typeface="Spectral" pitchFamily="34" charset="-122"/>
                <a:cs typeface="Spectral" pitchFamily="34" charset="-120"/>
              </a:rPr>
              <a:t>The graph</a:t>
            </a:r>
            <a:endParaRPr lang="en-US" sz="1600" dirty="0"/>
          </a:p>
        </p:txBody>
      </p:sp>
      <p:sp>
        <p:nvSpPr>
          <p:cNvPr id="7" name="Text 5"/>
          <p:cNvSpPr/>
          <p:nvPr/>
        </p:nvSpPr>
        <p:spPr>
          <a:xfrm>
            <a:off x="1243584" y="2139696"/>
            <a:ext cx="4206240" cy="274320"/>
          </a:xfrm>
          <a:prstGeom prst="rect">
            <a:avLst/>
          </a:prstGeom>
          <a:noFill/>
          <a:ln/>
        </p:spPr>
        <p:txBody>
          <a:bodyPr wrap="square" lIns="0" tIns="0" rIns="0" bIns="0" rtlCol="0" anchor="ctr"/>
          <a:lstStyle/>
          <a:p>
            <a:pPr indent="0" marL="0">
              <a:buNone/>
            </a:pPr>
            <a:r>
              <a:rPr lang="en-US" sz="1150" dirty="0">
                <a:solidFill>
                  <a:srgbClr val="D8D2C4"/>
                </a:solidFill>
                <a:latin typeface="Arial" pitchFamily="34" charset="0"/>
                <a:ea typeface="Arial" pitchFamily="34" charset="-122"/>
                <a:cs typeface="Arial" pitchFamily="34" charset="-120"/>
              </a:rPr>
              <a:t>15 nodes · 27 edges · 10 sources, on canvas</a:t>
            </a:r>
            <a:endParaRPr lang="en-US" sz="1150" dirty="0"/>
          </a:p>
        </p:txBody>
      </p:sp>
      <p:sp>
        <p:nvSpPr>
          <p:cNvPr id="8" name="Shape 6"/>
          <p:cNvSpPr/>
          <p:nvPr/>
        </p:nvSpPr>
        <p:spPr>
          <a:xfrm>
            <a:off x="658368" y="2688336"/>
            <a:ext cx="402336" cy="402336"/>
          </a:xfrm>
          <a:prstGeom prst="ellipse">
            <a:avLst/>
          </a:prstGeom>
          <a:solidFill>
            <a:srgbClr val="234A2F"/>
          </a:solidFill>
          <a:ln w="9525">
            <a:solidFill>
              <a:srgbClr val="4E7A5C"/>
            </a:solidFill>
            <a:prstDash val="solid"/>
          </a:ln>
        </p:spPr>
      </p:sp>
      <p:sp>
        <p:nvSpPr>
          <p:cNvPr id="9" name="Text 7"/>
          <p:cNvSpPr/>
          <p:nvPr/>
        </p:nvSpPr>
        <p:spPr>
          <a:xfrm>
            <a:off x="658368" y="2688336"/>
            <a:ext cx="402336" cy="402336"/>
          </a:xfrm>
          <a:prstGeom prst="rect">
            <a:avLst/>
          </a:prstGeom>
          <a:noFill/>
          <a:ln/>
        </p:spPr>
        <p:txBody>
          <a:bodyPr wrap="square" lIns="0" tIns="0" rIns="0" bIns="0" rtlCol="0" anchor="ctr"/>
          <a:lstStyle/>
          <a:p>
            <a:pPr algn="ctr" indent="0" marL="0">
              <a:buNone/>
            </a:pPr>
            <a:r>
              <a:rPr lang="en-US" sz="1200" b="1" dirty="0">
                <a:solidFill>
                  <a:srgbClr val="FEFDFB"/>
                </a:solidFill>
                <a:latin typeface="Courier New" pitchFamily="34" charset="0"/>
                <a:ea typeface="Courier New" pitchFamily="34" charset="-122"/>
                <a:cs typeface="Courier New" pitchFamily="34" charset="-120"/>
              </a:rPr>
              <a:t>2</a:t>
            </a:r>
            <a:endParaRPr lang="en-US" sz="1200" dirty="0"/>
          </a:p>
        </p:txBody>
      </p:sp>
      <p:sp>
        <p:nvSpPr>
          <p:cNvPr id="10" name="Text 8"/>
          <p:cNvSpPr/>
          <p:nvPr/>
        </p:nvSpPr>
        <p:spPr>
          <a:xfrm>
            <a:off x="1243584" y="2670048"/>
            <a:ext cx="4023360" cy="310896"/>
          </a:xfrm>
          <a:prstGeom prst="rect">
            <a:avLst/>
          </a:prstGeom>
          <a:noFill/>
          <a:ln/>
        </p:spPr>
        <p:txBody>
          <a:bodyPr wrap="square" lIns="0" tIns="0" rIns="0" bIns="0" rtlCol="0" anchor="ctr"/>
          <a:lstStyle/>
          <a:p>
            <a:pPr indent="0" marL="0">
              <a:buNone/>
            </a:pPr>
            <a:r>
              <a:rPr lang="en-US" sz="1600" dirty="0">
                <a:solidFill>
                  <a:srgbClr val="FEFDFB"/>
                </a:solidFill>
                <a:latin typeface="Spectral" pitchFamily="34" charset="0"/>
                <a:ea typeface="Spectral" pitchFamily="34" charset="-122"/>
                <a:cs typeface="Spectral" pitchFamily="34" charset="-120"/>
              </a:rPr>
              <a:t>Source pipelines</a:t>
            </a:r>
            <a:endParaRPr lang="en-US" sz="1600" dirty="0"/>
          </a:p>
        </p:txBody>
      </p:sp>
      <p:sp>
        <p:nvSpPr>
          <p:cNvPr id="11" name="Text 9"/>
          <p:cNvSpPr/>
          <p:nvPr/>
        </p:nvSpPr>
        <p:spPr>
          <a:xfrm>
            <a:off x="1243584" y="2999232"/>
            <a:ext cx="4206240" cy="274320"/>
          </a:xfrm>
          <a:prstGeom prst="rect">
            <a:avLst/>
          </a:prstGeom>
          <a:noFill/>
          <a:ln/>
        </p:spPr>
        <p:txBody>
          <a:bodyPr wrap="square" lIns="0" tIns="0" rIns="0" bIns="0" rtlCol="0" anchor="ctr"/>
          <a:lstStyle/>
          <a:p>
            <a:pPr indent="0" marL="0">
              <a:buNone/>
            </a:pPr>
            <a:r>
              <a:rPr lang="en-US" sz="1150" dirty="0">
                <a:solidFill>
                  <a:srgbClr val="D8D2C4"/>
                </a:solidFill>
                <a:latin typeface="Arial" pitchFamily="34" charset="0"/>
                <a:ea typeface="Arial" pitchFamily="34" charset="-122"/>
                <a:cs typeface="Arial" pitchFamily="34" charset="-120"/>
              </a:rPr>
              <a:t>How SAP, POS, media &amp; planning map in</a:t>
            </a:r>
            <a:endParaRPr lang="en-US" sz="1150" dirty="0"/>
          </a:p>
        </p:txBody>
      </p:sp>
      <p:sp>
        <p:nvSpPr>
          <p:cNvPr id="12" name="Shape 10"/>
          <p:cNvSpPr/>
          <p:nvPr/>
        </p:nvSpPr>
        <p:spPr>
          <a:xfrm>
            <a:off x="658368" y="3547872"/>
            <a:ext cx="402336" cy="402336"/>
          </a:xfrm>
          <a:prstGeom prst="ellipse">
            <a:avLst/>
          </a:prstGeom>
          <a:solidFill>
            <a:srgbClr val="234A2F"/>
          </a:solidFill>
          <a:ln w="9525">
            <a:solidFill>
              <a:srgbClr val="4E7A5C"/>
            </a:solidFill>
            <a:prstDash val="solid"/>
          </a:ln>
        </p:spPr>
      </p:sp>
      <p:sp>
        <p:nvSpPr>
          <p:cNvPr id="13" name="Text 11"/>
          <p:cNvSpPr/>
          <p:nvPr/>
        </p:nvSpPr>
        <p:spPr>
          <a:xfrm>
            <a:off x="658368" y="3547872"/>
            <a:ext cx="402336" cy="402336"/>
          </a:xfrm>
          <a:prstGeom prst="rect">
            <a:avLst/>
          </a:prstGeom>
          <a:noFill/>
          <a:ln/>
        </p:spPr>
        <p:txBody>
          <a:bodyPr wrap="square" lIns="0" tIns="0" rIns="0" bIns="0" rtlCol="0" anchor="ctr"/>
          <a:lstStyle/>
          <a:p>
            <a:pPr algn="ctr" indent="0" marL="0">
              <a:buNone/>
            </a:pPr>
            <a:r>
              <a:rPr lang="en-US" sz="1200" b="1" dirty="0">
                <a:solidFill>
                  <a:srgbClr val="FEFDFB"/>
                </a:solidFill>
                <a:latin typeface="Courier New" pitchFamily="34" charset="0"/>
                <a:ea typeface="Courier New" pitchFamily="34" charset="-122"/>
                <a:cs typeface="Courier New" pitchFamily="34" charset="-120"/>
              </a:rPr>
              <a:t>3</a:t>
            </a:r>
            <a:endParaRPr lang="en-US" sz="1200" dirty="0"/>
          </a:p>
        </p:txBody>
      </p:sp>
      <p:sp>
        <p:nvSpPr>
          <p:cNvPr id="14" name="Text 12"/>
          <p:cNvSpPr/>
          <p:nvPr/>
        </p:nvSpPr>
        <p:spPr>
          <a:xfrm>
            <a:off x="1243584" y="3529584"/>
            <a:ext cx="4023360" cy="310896"/>
          </a:xfrm>
          <a:prstGeom prst="rect">
            <a:avLst/>
          </a:prstGeom>
          <a:noFill/>
          <a:ln/>
        </p:spPr>
        <p:txBody>
          <a:bodyPr wrap="square" lIns="0" tIns="0" rIns="0" bIns="0" rtlCol="0" anchor="ctr"/>
          <a:lstStyle/>
          <a:p>
            <a:pPr indent="0" marL="0">
              <a:buNone/>
            </a:pPr>
            <a:r>
              <a:rPr lang="en-US" sz="1600" dirty="0">
                <a:solidFill>
                  <a:srgbClr val="FEFDFB"/>
                </a:solidFill>
                <a:latin typeface="Spectral" pitchFamily="34" charset="0"/>
                <a:ea typeface="Spectral" pitchFamily="34" charset="-122"/>
                <a:cs typeface="Spectral" pitchFamily="34" charset="-120"/>
              </a:rPr>
              <a:t>Records</a:t>
            </a:r>
            <a:endParaRPr lang="en-US" sz="1600" dirty="0"/>
          </a:p>
        </p:txBody>
      </p:sp>
      <p:sp>
        <p:nvSpPr>
          <p:cNvPr id="15" name="Text 13"/>
          <p:cNvSpPr/>
          <p:nvPr/>
        </p:nvSpPr>
        <p:spPr>
          <a:xfrm>
            <a:off x="1243584" y="3858768"/>
            <a:ext cx="4206240" cy="274320"/>
          </a:xfrm>
          <a:prstGeom prst="rect">
            <a:avLst/>
          </a:prstGeom>
          <a:noFill/>
          <a:ln/>
        </p:spPr>
        <p:txBody>
          <a:bodyPr wrap="square" lIns="0" tIns="0" rIns="0" bIns="0" rtlCol="0" anchor="ctr"/>
          <a:lstStyle/>
          <a:p>
            <a:pPr indent="0" marL="0">
              <a:buNone/>
            </a:pPr>
            <a:r>
              <a:rPr lang="en-US" sz="1150" dirty="0">
                <a:solidFill>
                  <a:srgbClr val="D8D2C4"/>
                </a:solidFill>
                <a:latin typeface="Arial" pitchFamily="34" charset="0"/>
                <a:ea typeface="Arial" pitchFamily="34" charset="-122"/>
                <a:cs typeface="Arial" pitchFamily="34" charset="-120"/>
              </a:rPr>
              <a:t>Every node backed by inspectable records</a:t>
            </a:r>
            <a:endParaRPr lang="en-US" sz="1150" dirty="0"/>
          </a:p>
        </p:txBody>
      </p:sp>
      <p:sp>
        <p:nvSpPr>
          <p:cNvPr id="16" name="Shape 14"/>
          <p:cNvSpPr/>
          <p:nvPr/>
        </p:nvSpPr>
        <p:spPr>
          <a:xfrm>
            <a:off x="658368" y="4407408"/>
            <a:ext cx="402336" cy="402336"/>
          </a:xfrm>
          <a:prstGeom prst="ellipse">
            <a:avLst/>
          </a:prstGeom>
          <a:solidFill>
            <a:srgbClr val="234A2F"/>
          </a:solidFill>
          <a:ln w="9525">
            <a:solidFill>
              <a:srgbClr val="4E7A5C"/>
            </a:solidFill>
            <a:prstDash val="solid"/>
          </a:ln>
        </p:spPr>
      </p:sp>
      <p:sp>
        <p:nvSpPr>
          <p:cNvPr id="17" name="Text 15"/>
          <p:cNvSpPr/>
          <p:nvPr/>
        </p:nvSpPr>
        <p:spPr>
          <a:xfrm>
            <a:off x="658368" y="4407408"/>
            <a:ext cx="402336" cy="402336"/>
          </a:xfrm>
          <a:prstGeom prst="rect">
            <a:avLst/>
          </a:prstGeom>
          <a:noFill/>
          <a:ln/>
        </p:spPr>
        <p:txBody>
          <a:bodyPr wrap="square" lIns="0" tIns="0" rIns="0" bIns="0" rtlCol="0" anchor="ctr"/>
          <a:lstStyle/>
          <a:p>
            <a:pPr algn="ctr" indent="0" marL="0">
              <a:buNone/>
            </a:pPr>
            <a:r>
              <a:rPr lang="en-US" sz="1200" b="1" dirty="0">
                <a:solidFill>
                  <a:srgbClr val="FEFDFB"/>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243584" y="4389120"/>
            <a:ext cx="4023360" cy="310896"/>
          </a:xfrm>
          <a:prstGeom prst="rect">
            <a:avLst/>
          </a:prstGeom>
          <a:noFill/>
          <a:ln/>
        </p:spPr>
        <p:txBody>
          <a:bodyPr wrap="square" lIns="0" tIns="0" rIns="0" bIns="0" rtlCol="0" anchor="ctr"/>
          <a:lstStyle/>
          <a:p>
            <a:pPr indent="0" marL="0">
              <a:buNone/>
            </a:pPr>
            <a:r>
              <a:rPr lang="en-US" sz="1600" dirty="0">
                <a:solidFill>
                  <a:srgbClr val="FEFDFB"/>
                </a:solidFill>
                <a:latin typeface="Spectral" pitchFamily="34" charset="0"/>
                <a:ea typeface="Spectral" pitchFamily="34" charset="-122"/>
                <a:cs typeface="Spectral" pitchFamily="34" charset="-120"/>
              </a:rPr>
              <a:t>Agents</a:t>
            </a:r>
            <a:endParaRPr lang="en-US" sz="1600" dirty="0"/>
          </a:p>
        </p:txBody>
      </p:sp>
      <p:sp>
        <p:nvSpPr>
          <p:cNvPr id="19" name="Text 17"/>
          <p:cNvSpPr/>
          <p:nvPr/>
        </p:nvSpPr>
        <p:spPr>
          <a:xfrm>
            <a:off x="1243584" y="4718304"/>
            <a:ext cx="4206240" cy="274320"/>
          </a:xfrm>
          <a:prstGeom prst="rect">
            <a:avLst/>
          </a:prstGeom>
          <a:noFill/>
          <a:ln/>
        </p:spPr>
        <p:txBody>
          <a:bodyPr wrap="square" lIns="0" tIns="0" rIns="0" bIns="0" rtlCol="0" anchor="ctr"/>
          <a:lstStyle/>
          <a:p>
            <a:pPr indent="0" marL="0">
              <a:buNone/>
            </a:pPr>
            <a:r>
              <a:rPr lang="en-US" sz="1150" dirty="0">
                <a:solidFill>
                  <a:srgbClr val="D8D2C4"/>
                </a:solidFill>
                <a:latin typeface="Arial" pitchFamily="34" charset="0"/>
                <a:ea typeface="Arial" pitchFamily="34" charset="-122"/>
                <a:cs typeface="Arial" pitchFamily="34" charset="-120"/>
              </a:rPr>
              <a:t>Run the Seattle question end-to-end</a:t>
            </a:r>
            <a:endParaRPr lang="en-US" sz="1150" dirty="0"/>
          </a:p>
        </p:txBody>
      </p:sp>
      <p:pic>
        <p:nvPicPr>
          <p:cNvPr id="20" name="Image 0" descr="/private/tmp/claude-501/-Users-rohanvijay-New-Navigation/51738f4d-614f-49e0-8dfa-729e8c75bcb4/scratchpad/crop-answer.png">    </p:cNvPr>
          <p:cNvPicPr>
            <a:picLocks noChangeAspect="1"/>
          </p:cNvPicPr>
          <p:nvPr/>
        </p:nvPicPr>
        <p:blipFill>
          <a:blip r:embed="rId1"/>
          <a:stretch>
            <a:fillRect/>
          </a:stretch>
        </p:blipFill>
        <p:spPr>
          <a:xfrm>
            <a:off x="5989320" y="1298448"/>
            <a:ext cx="5623560" cy="3529584"/>
          </a:xfrm>
          <a:prstGeom prst="rect">
            <a:avLst/>
          </a:prstGeom>
        </p:spPr>
      </p:pic>
      <p:sp>
        <p:nvSpPr>
          <p:cNvPr id="21" name="Text 18"/>
          <p:cNvSpPr/>
          <p:nvPr/>
        </p:nvSpPr>
        <p:spPr>
          <a:xfrm>
            <a:off x="5989320" y="4919472"/>
            <a:ext cx="5623560" cy="274320"/>
          </a:xfrm>
          <a:prstGeom prst="rect">
            <a:avLst/>
          </a:prstGeom>
          <a:noFill/>
          <a:ln/>
        </p:spPr>
        <p:txBody>
          <a:bodyPr wrap="square" lIns="0" tIns="0" rIns="0" bIns="0" rtlCol="0" anchor="ctr"/>
          <a:lstStyle/>
          <a:p>
            <a:pPr algn="ctr" indent="0" marL="0">
              <a:buNone/>
            </a:pPr>
            <a:r>
              <a:rPr lang="en-US" sz="1050" dirty="0">
                <a:solidFill>
                  <a:srgbClr val="9DB5A4"/>
                </a:solidFill>
                <a:latin typeface="Arial" pitchFamily="34" charset="0"/>
                <a:ea typeface="Arial" pitchFamily="34" charset="-122"/>
                <a:cs typeface="Arial" pitchFamily="34" charset="-120"/>
              </a:rPr>
              <a:t>The Retail Demand Agent answering with citations, live</a:t>
            </a:r>
            <a:endParaRPr lang="en-US" sz="1050" dirty="0"/>
          </a:p>
        </p:txBody>
      </p:sp>
      <p:pic>
        <p:nvPicPr>
          <p:cNvPr id="22" name="Image 1" descr="/Users/rohanvijay/New Navigation/public/unify-logo-sand.png">    </p:cNvPr>
          <p:cNvPicPr>
            <a:picLocks noChangeAspect="1"/>
          </p:cNvPicPr>
          <p:nvPr/>
        </p:nvPicPr>
        <p:blipFill>
          <a:blip r:embed="rId2"/>
          <a:stretch>
            <a:fillRect/>
          </a:stretch>
        </p:blipFill>
        <p:spPr>
          <a:xfrm>
            <a:off x="10241280" y="6263640"/>
            <a:ext cx="1316736" cy="3977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2026-07-30T18:51:48Z</dcterms:created>
  <dcterms:modified xsi:type="dcterms:W3CDTF">2026-07-30T18:51:48Z</dcterms:modified>
</cp:coreProperties>
</file>